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PPT-001: approved vocabulary-first presentation. The user asked to keep revision mechanics aside. This deck teaches definitions and approved representations without changing any canonical contracts. Presenter notes retain qualifications that do not need to dominate the slides.
SOURCE: handbook/slides/../theory/canonical-terms.md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establishes identity. Authorization connects authority to a protected effect. A principle is a design constraint; a policy expresses applicable rules. Effective authority is what current valid routes can provide. In all JSON, version identifies the format. Revision fields are retained but visually muted and not taught in this deck. No revision/adoption lesson is included.
SOURCE: handbook/slides/../theory/canonical-terms.md#principles-and-rules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describes who acts. human_id identifies the authorizing human, anchoring current authority and self. Direct-human equality is required. Matching JSON is not identity proof: the identity must be established through trusted evidence. The typed actor avoids conflating a proxy caller with the human.
SOURCE: handbook/slides/../theory/canonical-terms.md#identity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human-dependent service-account rule is specific to this framework. Other systems may choose independent machine principals. Neither JSON block is a delegation record: both identify the participants. Exact delegation evidence remains pending. There is no separate duplicate agent_id claim.
SOURCE: handbook/slides/../theory/canonical-terms.md#identity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identity-related payload excerpt omits issuer, audience, expiry and cryptographic verification for focus, not because they are optional. sub must equal identity.human_id. The repeated human ID keeps identity self-contained. Legacy consumers that ignore the proxy must not bypass applicable delegation checks. Universal backward compatibility has not been demonstrated.
SOURCE: handbook/slides/../theory/canonical-terms.md#identity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tenant identifier in a URL is supplied input, not proof of access. Tenant association is not authorization-group membership. Application platform administration governs capability publication outside tenant business scope, within its own management boundary. Publishing HRMS permissions does not grant tenant payroll access. Complete context and platform trust mappings remain pending.
SOURCE: handbook/slides/../theory/canonical-terms.md#enclosing-context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 grammar: &lt;app&gt;:&lt;domain&gt;[:&lt;subdomain-or-resource&gt;...]::&lt;verb&gt;. Permissions must be registered. Department IDs do not belong in operation names. The array is a nested value, not a standalone published contract, so it does not invent a version wrapper. An existing permission name cannot acquire materially different authorization meaning after retirement. HTTP method alone does not define permission.
SOURCE: handbook/slides/../theory/canonical-terms.md#permission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scope is a required flat object. Arrays, nested query objects, duplicate keys, wildcard operators, unsupported keys and empty/non-string values are not accepted. Missing/null scope is not an empty object. A child’s {} adds no local restriction but retains parent constraints. Alternative boundaries need separate complete routes. Auth validates registration and syntax; the application owns boundary meaning.
SOURCE: handbook/slides/../theory/canonical-terms.md#scope-and-self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assumes an already valid supported self-scoped group route. It does not settle whether Maya’s self-limited source permits distributing Nutan’s self access. Copying the token is not a containment proof. The application must establish or enforce its registered user/self relationship on the actual data. Prefer group-based access without forbidding legitimate direct assignments.
SOURCE: handbook/slides/../theory/canonical-terms.md#scope-and-self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role does not define recipient or scope. A grant uses explicit permissions or a complete role reference, not both. An assignment connects a reusable recipient-free grant to a human or group. The full standalone role-publication schema remains pending; this conceptual comparison deliberately does not invent one. Scope and parent support still constrain role-based authority.
SOURCE: handbook/slides/../theory/canonical-terms.md#grant-records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G1 matches the handbook running example. Assume registered meanings, valid G0 support, enabled live control and successful administrative/boundary checks. The example is immutable content, not a complete combined record: live control and recipient assignment are separate. Revision mechanics are omitted from teaching, but required fields remain intact. Ordinary grants cannot omit their parent to manufacture roots.
SOURCE: handbook/slides/../theory/canonical-terms.md#grant-records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R-CERTIFICATE-READER contains certificate-read and fits valid G0 support. Full standalone role publication JSON is not approved by showing this reference. role_revision is preserved in the canonical JSON but its mechanics are outside scope. A direct-permission grant contains neither role_id nor role_revision. No latest-role fallback or mixed variant is allowed.
SOURCE: handbook/slides/../theory/canonical-terms.md#grant-records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canonical assignment also retains its required content-selection field without teaching adoption mechanics. Prefer human access through groups while retaining valid direct-human routes. Assignment enablement is not grant-wide enablement or proof of effective authority. An agent does not get independent first-class group membership through this record.
SOURCE: handbook/slides/../theory/canonical-terms.md#grant-records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 owns explicit human membership. Team hierarchy does not imply inherited human memberships. Teams are not application departments even when used to organize department staff. Team write includes membership management; assigning grants needs separate authority. Full membership, team hierarchy and owner record formats remain pending, so no tentative scratch JSON is promoted. Authorized membership management intentionally distributes the team’s existing access.
SOURCE: handbook/slides/../theory/canonical-terms.md#teams-and-administration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 endpoint evaluator checks the administrative operation and recipient boundary. Auth’s authority-boundary validator checks the proposed authority against eligible source support and team ceilings. Q-093 requires a valid direct/group source available to the assigner as well as administrative authority. This is not an application database lookup or a generic business-rule engine. Creator history is not automatically permanent support. Exact owner-transfer permission remains pending.
SOURCE: handbook/slides/../theory/canonical-terms.md#responsibility-layers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Team2 is a child of Team1, A1 supplies G1 to Team1, and A2 supplies G2 to Team2 with valid controls/support. All child-team authority must remain within the parent-team ceiling as well. Adding dept=ENG cannot overwrite dept=FIN. Subgrant means a grant relative to a parent, not another record type. Full team hierarchy wire representation remains pending.
SOURCE: handbook/slides/../theory/canonical-terms.md#dependent-relationships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repeats G1/A1/Team1 and G2/A2/Team2 from the handbook. Required G0 support is assumed. G2 parent_grant_id is G1; A1 establishes actual support in the parent-team context. No parent_assignment_id or parent_grant_revision field is introduced. Nutan’s explicit Team2 membership supplies the valid G2 route, not Team1 write access. Unrelated TeamX holdings cannot replace required Team1 support. Complete team relationship JSON is pending.
SOURCE: handbook/slides/../theory/canonical-terms.md#dependent-relationships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Delegation is not simply an account creator field. Both current human authority and delegation limits apply. If support later returns, still-valid delegation can resume; expired, revoked or explicitly disabled delegation is not automatically revived. Full delegation evidence JSON is pending. Teams contain humans, not these automated actors.
SOURCE: handbook/slides/../theory/canonical-terms.md#delegation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later lifecycle snapshot, not a contradiction of the earlier valid-route example. Stored enabled flags are necessary controls, not final authorization. A still-enabled child can become ineffective when required support is disabled and resume when that support returns. A child explicitly disabled stays disabled until explicitly enabled and revalidated. Structural changes require bottom-up handling of affected bindings, not merely making an ancestor ineffective.
SOURCE: handbook/slides/../theory/canonical-terms.md#lifecycle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validity belongs in immutable grant content, not live grant control or assignment. The full timestamp and lifecycle API contracts remain unfinished. Absence of a local validity window means no extra local time restriction, not independence from upstream expiry. This deck does not teach content revision or adoption mechanics, but preserves approved field placement.
SOURCE: handbook/slides/../theory/canonical-terms.md#lifecycle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Orphaning is assessed for the affected lineage of a reusable grant, not automatically every assignment of that definition. Permanent deletion/revocation differs from temporary disablement; no invented revoked/orphan live status is selected. Required structural guards still apply before breaking bindings. Missing support cannot be replaced with any convenient broader source. Warning/prevention at an upper management layer does not alter the canonical ineffective outcome.
SOURCE: handbook/slides/../theory/canonical-terms.md#lifecycle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own domain meaning; Auth validates registered contracts and canonical authority rules. Optional permission/scope compatibility is declared upfront; enabled mode validates every grant. Bootstrap must establish coherent maximum intended authority inside its authorized boundary, with a minimal setup. Computed root permissions follow one shared application catalog; ordinary child permissions do not silently grow. Complete registration/root/trusted-setup JSON remains pending; no stored wildcard or is_root field is invented.
SOURCE: handbook/slides/../theory/canonical-terms.md#registration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declared inputs must be present at their stated sources. The tenant path input must be reconciled with trusted tenant context. Local input names are not automatically scope keys. There is no prepared handoff or canonical relationships block. The endpoint must establish or enforce the relationships needed to constrain actual execution. Full policy validation, nested-body syntax and additional sources remain pending.
SOURCE: handbook/slides/../theory/canonical-terms.md#endpoint-declaration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body field must be present at the declared source. Application value/type validation is not a new grant-scope field. Current and proposed operation boundaries must be respected; the exact move-grant composition is still pending. A broader {} grant does not waive declared input presence. The one-permission requirement does not mean one grant contains only one permission.
SOURCE: handbook/slides/../theory/canonical-terms.md#endpoint-declaration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input is a declared value from a specified source. A domain fact is application-owned knowledge; a relationship is the relevant association, such as C17 belonging to Finance. A supplied path value alone is not a fact. The endpoint may fetch authoritative facts or preserve the required constraints through execution. No canonical target entity, relationship record or resolved_inputs envelope is introduced.
SOURCE: handbook/slides/../theory/canonical-terms.md#request-and-material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Resolved grants are computed views of existing applicable routes, preserving source bindings, scope and restrictions. They are not stored new grants, new assignments or allows. This slide is an explanatory table, not an approved serialization. A FIN-write route and ENG-read route do not provide ENG-write. Independent alternatives remain separate: resolution also does not compute a globally narrowest intersection of every unrelated grant. Full resolved-grant/evidence format remains pending.
SOURCE: handbook/slides/../theory/canonical-terms.md#resolution-and-evaluation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grant_ids is a non-empty array of non-empty strings. It identifies supporting grants from this evaluation, not necessarily a complete lineage snapshot. Returned scope is not required. References are available even when not every request is recorded for audit; audit storage/retention design is outside scope. Unknown fields and mixed variants are rejected. Full code/transport/provenance schema work remains pending.
SOURCE: handbook/slides/../theory/canonical-terms.md#decision-and-enforcement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Deny means sufficient evidence completed evaluation without authorizing the request. Error means a required evaluation could not complete, such as an Auth timeout with no sufficient valid preloaded authority. Error has no decision field, but omission alone does not validate a malformed response. The code strings and message text here are illustrative, not an exhaustive catalog. Both error_message and error_message_reason are evaluator-provided; disclosure and value rules remain pending. Malformed/unknown/mixed result variants cannot become allow.
SOURCE: handbook/slides/../theory/canonical-terms.md#decision-and-enforcement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endpoint-owned gate, not middleware allow followed by an independent prepared decision. Middleware may authenticate and preload sufficient authority. Auth’s canonical layer supplies grants, membership and support; the application layer supplies facts or constrained execution. Inputs appearing only in logs do not enforce boundaries. Already-allowed ordinary synchronous operations and new checks have distinct approved temporal rules; this slide does not invent caching or concurrency protocols.
SOURCE: handbook/slides/../theory/canonical-terms.md#responsibility-layers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canonical distinctions rather than claiming every interface is complete. Sources: handbook/theory/canonical-terms.md; implementation/05-canonical-model.md; implementation/06-auth-service.md; implementation/07-application-integration.md; appendices/pending.md. Revision/adoption mechanics were intentionally left out at the user’s request; required fields remain in examples. Full team/membership/owner, standalone role, registration/root, delegation and request/resolved-view representations remain pending. This deck neither changes the model nor closes those design decisions.
SOURCE: handbook/slides/../theory/canonical-terms.md
These are the repository model’s choices, not universal authorization requirements. Canonical core examples are not complete deployable schemas. Tenant context, registered meanings, live controls, valid assignments and required upstream support are premises of usable authority. Revision/adoption mechanics are intentionally outside this deck; existing revision fields remain for contract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4263D"/>
          </a:solidFill>
          <a:ln w="8890">
            <a:solidFill>
              <a:srgbClr val="14263D"/>
            </a:solidFill>
            <a:prstDash val="solid"/>
          </a:ln>
        </p:spPr>
      </p:sp>
      <p:sp>
        <p:nvSpPr>
          <p:cNvPr id="3" name="Shape 1"/>
          <p:cNvSpPr/>
          <p:nvPr/>
        </p:nvSpPr>
        <p:spPr>
          <a:xfrm>
            <a:off x="658368" y="658368"/>
            <a:ext cx="109728" cy="6766560"/>
          </a:xfrm>
          <a:prstGeom prst="rect">
            <a:avLst/>
          </a:prstGeom>
          <a:solidFill>
            <a:srgbClr val="087E8B"/>
          </a:solidFill>
          <a:ln w="8890">
            <a:solidFill>
              <a:srgbClr val="087E8B"/>
            </a:solidFill>
            <a:prstDash val="solid"/>
          </a:ln>
        </p:spPr>
      </p:sp>
      <p:sp>
        <p:nvSpPr>
          <p:cNvPr id="4" name="Text 2"/>
          <p:cNvSpPr/>
          <p:nvPr/>
        </p:nvSpPr>
        <p:spPr>
          <a:xfrm>
            <a:off x="1024128" y="914400"/>
            <a:ext cx="11887200" cy="323088"/>
          </a:xfrm>
          <a:prstGeom prst="rect">
            <a:avLst/>
          </a:prstGeom>
          <a:noFill/>
          <a:ln/>
        </p:spPr>
        <p:txBody>
          <a:bodyPr wrap="none" lIns="0" tIns="0" rIns="0" bIns="0" rtlCol="0" anchor="t"/>
          <a:lstStyle/>
          <a:p>
            <a:pPr algn="l" indent="0" marL="0">
              <a:lnSpc>
                <a:spcPct val="123000"/>
              </a:lnSpc>
              <a:buNone/>
            </a:pPr>
            <a:r>
              <a:rPr lang="en-US" sz="1600" b="1" dirty="0">
                <a:solidFill>
                  <a:srgbClr val="83D4D6"/>
                </a:solidFill>
                <a:latin typeface="Arial" pitchFamily="34" charset="0"/>
                <a:ea typeface="Arial" pitchFamily="34" charset="-122"/>
                <a:cs typeface="Arial" pitchFamily="34" charset="-120"/>
              </a:rPr>
              <a:t>FOUNDATIONS / VOCABULARY / CANONICAL JSON</a:t>
            </a:r>
            <a:endParaRPr lang="en-US" sz="1600" dirty="0"/>
          </a:p>
        </p:txBody>
      </p:sp>
      <p:sp>
        <p:nvSpPr>
          <p:cNvPr id="5" name="Text 3"/>
          <p:cNvSpPr/>
          <p:nvPr/>
        </p:nvSpPr>
        <p:spPr>
          <a:xfrm>
            <a:off x="1024128" y="1828800"/>
            <a:ext cx="12527280" cy="1822704"/>
          </a:xfrm>
          <a:prstGeom prst="rect">
            <a:avLst/>
          </a:prstGeom>
          <a:noFill/>
          <a:ln/>
        </p:spPr>
        <p:txBody>
          <a:bodyPr wrap="none" lIns="0" tIns="0" rIns="0" bIns="0" rtlCol="0" anchor="t"/>
          <a:lstStyle/>
          <a:p>
            <a:pPr algn="l" indent="0" marL="0">
              <a:lnSpc>
                <a:spcPct val="123000"/>
              </a:lnSpc>
              <a:buNone/>
            </a:pPr>
            <a:r>
              <a:rPr lang="en-US" sz="5600" b="1" dirty="0">
                <a:solidFill>
                  <a:srgbClr val="FFFFFF"/>
                </a:solidFill>
                <a:latin typeface="Arial" pitchFamily="34" charset="0"/>
                <a:ea typeface="Arial" pitchFamily="34" charset="-122"/>
                <a:cs typeface="Arial" pitchFamily="34" charset="-120"/>
              </a:rPr>
              <a:t>Handbook of</a:t>
            </a:r>
            <a:endParaRPr lang="en-US" sz="5600" dirty="0"/>
          </a:p>
          <a:p>
            <a:pPr algn="l" indent="0" marL="0">
              <a:lnSpc>
                <a:spcPct val="123000"/>
              </a:lnSpc>
              <a:buNone/>
            </a:pPr>
            <a:r>
              <a:rPr lang="en-US" sz="5600" b="1" dirty="0">
                <a:solidFill>
                  <a:srgbClr val="FFFFFF"/>
                </a:solidFill>
                <a:latin typeface="Arial" pitchFamily="34" charset="0"/>
                <a:ea typeface="Arial" pitchFamily="34" charset="-122"/>
                <a:cs typeface="Arial" pitchFamily="34" charset="-120"/>
              </a:rPr>
              <a:t>Authorization</a:t>
            </a:r>
            <a:endParaRPr lang="en-US" sz="5600" dirty="0"/>
          </a:p>
        </p:txBody>
      </p:sp>
      <p:sp>
        <p:nvSpPr>
          <p:cNvPr id="6" name="Text 4"/>
          <p:cNvSpPr/>
          <p:nvPr/>
        </p:nvSpPr>
        <p:spPr>
          <a:xfrm>
            <a:off x="1051560" y="4023360"/>
            <a:ext cx="11521440" cy="604266"/>
          </a:xfrm>
          <a:prstGeom prst="rect">
            <a:avLst/>
          </a:prstGeom>
          <a:noFill/>
          <a:ln/>
        </p:spPr>
        <p:txBody>
          <a:bodyPr wrap="none" lIns="0" tIns="0" rIns="0" bIns="0" rtlCol="0" anchor="t"/>
          <a:lstStyle/>
          <a:p>
            <a:pPr algn="l" indent="0" marL="0">
              <a:lnSpc>
                <a:spcPct val="123000"/>
              </a:lnSpc>
              <a:buNone/>
            </a:pPr>
            <a:r>
              <a:rPr lang="en-US" sz="3400" dirty="0">
                <a:solidFill>
                  <a:srgbClr val="83D4D6"/>
                </a:solidFill>
                <a:latin typeface="Arial" pitchFamily="34" charset="0"/>
                <a:ea typeface="Arial" pitchFamily="34" charset="-122"/>
                <a:cs typeface="Arial" pitchFamily="34" charset="-120"/>
              </a:rPr>
              <a:t>Core concepts &amp; JSON</a:t>
            </a:r>
            <a:endParaRPr lang="en-US" sz="3400" dirty="0"/>
          </a:p>
        </p:txBody>
      </p:sp>
      <p:sp>
        <p:nvSpPr>
          <p:cNvPr id="7" name="Text 5"/>
          <p:cNvSpPr/>
          <p:nvPr/>
        </p:nvSpPr>
        <p:spPr>
          <a:xfrm>
            <a:off x="1051560" y="4846320"/>
            <a:ext cx="11887200" cy="448056"/>
          </a:xfrm>
          <a:prstGeom prst="rect">
            <a:avLst/>
          </a:prstGeom>
          <a:noFill/>
          <a:ln/>
        </p:spPr>
        <p:txBody>
          <a:bodyPr wrap="none" lIns="0" tIns="0" rIns="0" bIns="0" rtlCol="0" anchor="t"/>
          <a:lstStyle/>
          <a:p>
            <a:pPr algn="l" indent="0" marL="0">
              <a:lnSpc>
                <a:spcPct val="123000"/>
              </a:lnSpc>
              <a:buNone/>
            </a:pPr>
            <a:r>
              <a:rPr lang="en-US" sz="2400" dirty="0">
                <a:solidFill>
                  <a:srgbClr val="D7E2ED"/>
                </a:solidFill>
                <a:latin typeface="Arial" pitchFamily="34" charset="0"/>
                <a:ea typeface="Arial" pitchFamily="34" charset="-122"/>
                <a:cs typeface="Arial" pitchFamily="34" charset="-120"/>
              </a:rPr>
              <a:t>Definitions • field meanings • connected examples</a:t>
            </a:r>
            <a:endParaRPr lang="en-US" sz="2400" dirty="0"/>
          </a:p>
        </p:txBody>
      </p:sp>
      <p:sp>
        <p:nvSpPr>
          <p:cNvPr id="8" name="Text 6"/>
          <p:cNvSpPr/>
          <p:nvPr/>
        </p:nvSpPr>
        <p:spPr>
          <a:xfrm>
            <a:off x="1051560" y="5943600"/>
            <a:ext cx="11704320" cy="697992"/>
          </a:xfrm>
          <a:prstGeom prst="rect">
            <a:avLst/>
          </a:prstGeom>
          <a:noFill/>
          <a:ln/>
        </p:spPr>
        <p:txBody>
          <a:bodyPr wrap="none" lIns="0" tIns="0" rIns="0" bIns="0" rtlCol="0" anchor="t"/>
          <a:lstStyle/>
          <a:p>
            <a:pPr algn="l" indent="0" marL="0">
              <a:lnSpc>
                <a:spcPct val="123000"/>
              </a:lnSpc>
              <a:buNone/>
            </a:pPr>
            <a:r>
              <a:rPr lang="en-US" sz="2000" dirty="0">
                <a:solidFill>
                  <a:srgbClr val="BECFDF"/>
                </a:solidFill>
                <a:latin typeface="Arial" pitchFamily="34" charset="0"/>
                <a:ea typeface="Arial" pitchFamily="34" charset="-122"/>
                <a:cs typeface="Arial" pitchFamily="34" charset="-120"/>
              </a:rPr>
              <a:t>Revision mechanics are intentionally outside this deck.</a:t>
            </a:r>
            <a:endParaRPr lang="en-US" sz="2000" dirty="0"/>
          </a:p>
          <a:p>
            <a:pPr algn="l" indent="0" marL="0">
              <a:lnSpc>
                <a:spcPct val="123000"/>
              </a:lnSpc>
              <a:buNone/>
            </a:pPr>
            <a:r>
              <a:rPr lang="en-US" sz="2000" dirty="0">
                <a:solidFill>
                  <a:srgbClr val="BECFDF"/>
                </a:solidFill>
                <a:latin typeface="Arial" pitchFamily="34" charset="0"/>
                <a:ea typeface="Arial" pitchFamily="34" charset="-122"/>
                <a:cs typeface="Arial" pitchFamily="34" charset="-120"/>
              </a:rPr>
              <a:t>Required fields remain in the JSON; no contracts are changed.</a:t>
            </a:r>
            <a:endParaRPr lang="en-US" sz="2000" dirty="0"/>
          </a:p>
        </p:txBody>
      </p:sp>
      <p:sp>
        <p:nvSpPr>
          <p:cNvPr id="9" name="Text 7"/>
          <p:cNvSpPr/>
          <p:nvPr/>
        </p:nvSpPr>
        <p:spPr>
          <a:xfrm>
            <a:off x="1051560" y="7360920"/>
            <a:ext cx="11704320" cy="291846"/>
          </a:xfrm>
          <a:prstGeom prst="rect">
            <a:avLst/>
          </a:prstGeom>
          <a:noFill/>
          <a:ln/>
        </p:spPr>
        <p:txBody>
          <a:bodyPr wrap="none" lIns="0" tIns="0" rIns="0" bIns="0" rtlCol="0" anchor="t"/>
          <a:lstStyle/>
          <a:p>
            <a:pPr algn="l" indent="0" marL="0">
              <a:lnSpc>
                <a:spcPct val="123000"/>
              </a:lnSpc>
              <a:buNone/>
            </a:pPr>
            <a:r>
              <a:rPr lang="en-US" sz="1400" dirty="0">
                <a:solidFill>
                  <a:srgbClr val="BECFDF"/>
                </a:solidFill>
                <a:latin typeface="Arial" pitchFamily="34" charset="0"/>
                <a:ea typeface="Arial" pitchFamily="34" charset="-122"/>
                <a:cs typeface="Arial" pitchFamily="34" charset="-120"/>
              </a:rPr>
              <a:t>Based on the Handbook of Authorization · Working model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THE VOCABULARY</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Six questions make the model readable</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Each term answers a different question.</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A grant defines authority. An assignment connects it to a recipient.</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02</a:t>
            </a:r>
            <a:endParaRPr lang="en-US" sz="1400" dirty="0"/>
          </a:p>
        </p:txBody>
      </p:sp>
      <p:sp>
        <p:nvSpPr>
          <p:cNvPr id="10" name="Shape 8"/>
          <p:cNvSpPr/>
          <p:nvPr/>
        </p:nvSpPr>
        <p:spPr>
          <a:xfrm>
            <a:off x="658368" y="2468880"/>
            <a:ext cx="4315968" cy="1965960"/>
          </a:xfrm>
          <a:prstGeom prst="roundRect">
            <a:avLst>
              <a:gd name="adj" fmla="val 5581"/>
            </a:avLst>
          </a:prstGeom>
          <a:solidFill>
            <a:srgbClr val="FFFFFF"/>
          </a:solidFill>
          <a:ln w="8890">
            <a:solidFill>
              <a:srgbClr val="CCD7E2"/>
            </a:solidFill>
            <a:prstDash val="solid"/>
          </a:ln>
        </p:spPr>
      </p:sp>
      <p:sp>
        <p:nvSpPr>
          <p:cNvPr id="11" name="Shape 9"/>
          <p:cNvSpPr/>
          <p:nvPr/>
        </p:nvSpPr>
        <p:spPr>
          <a:xfrm>
            <a:off x="658368" y="2468880"/>
            <a:ext cx="50292" cy="1965960"/>
          </a:xfrm>
          <a:prstGeom prst="rect">
            <a:avLst/>
          </a:prstGeom>
          <a:solidFill>
            <a:srgbClr val="087E8B"/>
          </a:solidFill>
          <a:ln w="8890">
            <a:solidFill>
              <a:srgbClr val="087E8B"/>
            </a:solidFill>
            <a:prstDash val="solid"/>
          </a:ln>
        </p:spPr>
      </p:sp>
      <p:sp>
        <p:nvSpPr>
          <p:cNvPr id="12" name="Text 10"/>
          <p:cNvSpPr/>
          <p:nvPr/>
        </p:nvSpPr>
        <p:spPr>
          <a:xfrm>
            <a:off x="886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Identity</a:t>
            </a:r>
            <a:endParaRPr lang="en-US" sz="1800" dirty="0"/>
          </a:p>
        </p:txBody>
      </p:sp>
      <p:sp>
        <p:nvSpPr>
          <p:cNvPr id="13" name="Text 11"/>
          <p:cNvSpPr/>
          <p:nvPr/>
        </p:nvSpPr>
        <p:spPr>
          <a:xfrm>
            <a:off x="886968" y="3161538"/>
            <a:ext cx="3858768" cy="1104138"/>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Who is acting, and whose</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human authority supports</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request?</a:t>
            </a:r>
            <a:endParaRPr lang="en-US" sz="2200" dirty="0"/>
          </a:p>
        </p:txBody>
      </p:sp>
      <p:sp>
        <p:nvSpPr>
          <p:cNvPr id="14" name="Shape 12"/>
          <p:cNvSpPr/>
          <p:nvPr/>
        </p:nvSpPr>
        <p:spPr>
          <a:xfrm>
            <a:off x="5230368" y="2468880"/>
            <a:ext cx="4315968" cy="1965960"/>
          </a:xfrm>
          <a:prstGeom prst="roundRect">
            <a:avLst>
              <a:gd name="adj" fmla="val 5581"/>
            </a:avLst>
          </a:prstGeom>
          <a:solidFill>
            <a:srgbClr val="FFFFFF"/>
          </a:solidFill>
          <a:ln w="8890">
            <a:solidFill>
              <a:srgbClr val="CCD7E2"/>
            </a:solidFill>
            <a:prstDash val="solid"/>
          </a:ln>
        </p:spPr>
      </p:sp>
      <p:sp>
        <p:nvSpPr>
          <p:cNvPr id="15" name="Shape 13"/>
          <p:cNvSpPr/>
          <p:nvPr/>
        </p:nvSpPr>
        <p:spPr>
          <a:xfrm>
            <a:off x="5230368" y="2468880"/>
            <a:ext cx="50292" cy="1965960"/>
          </a:xfrm>
          <a:prstGeom prst="rect">
            <a:avLst/>
          </a:prstGeom>
          <a:solidFill>
            <a:srgbClr val="087E8B"/>
          </a:solidFill>
          <a:ln w="8890">
            <a:solidFill>
              <a:srgbClr val="087E8B"/>
            </a:solidFill>
            <a:prstDash val="solid"/>
          </a:ln>
        </p:spPr>
      </p:sp>
      <p:sp>
        <p:nvSpPr>
          <p:cNvPr id="16" name="Text 14"/>
          <p:cNvSpPr/>
          <p:nvPr/>
        </p:nvSpPr>
        <p:spPr>
          <a:xfrm>
            <a:off x="5458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Permission</a:t>
            </a:r>
            <a:endParaRPr lang="en-US" sz="1800" dirty="0"/>
          </a:p>
        </p:txBody>
      </p:sp>
      <p:sp>
        <p:nvSpPr>
          <p:cNvPr id="17" name="Text 15"/>
          <p:cNvSpPr/>
          <p:nvPr/>
        </p:nvSpPr>
        <p:spPr>
          <a:xfrm>
            <a:off x="5458968" y="3161538"/>
            <a:ext cx="385876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What operation can be</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performed?</a:t>
            </a:r>
            <a:endParaRPr lang="en-US" sz="2200" dirty="0"/>
          </a:p>
        </p:txBody>
      </p:sp>
      <p:sp>
        <p:nvSpPr>
          <p:cNvPr id="18" name="Shape 16"/>
          <p:cNvSpPr/>
          <p:nvPr/>
        </p:nvSpPr>
        <p:spPr>
          <a:xfrm>
            <a:off x="9802368" y="2468880"/>
            <a:ext cx="4315968" cy="1965960"/>
          </a:xfrm>
          <a:prstGeom prst="roundRect">
            <a:avLst>
              <a:gd name="adj" fmla="val 5581"/>
            </a:avLst>
          </a:prstGeom>
          <a:solidFill>
            <a:srgbClr val="FFFFFF"/>
          </a:solidFill>
          <a:ln w="8890">
            <a:solidFill>
              <a:srgbClr val="CCD7E2"/>
            </a:solidFill>
            <a:prstDash val="solid"/>
          </a:ln>
        </p:spPr>
      </p:sp>
      <p:sp>
        <p:nvSpPr>
          <p:cNvPr id="19" name="Shape 17"/>
          <p:cNvSpPr/>
          <p:nvPr/>
        </p:nvSpPr>
        <p:spPr>
          <a:xfrm>
            <a:off x="9802368" y="2468880"/>
            <a:ext cx="50292" cy="1965960"/>
          </a:xfrm>
          <a:prstGeom prst="rect">
            <a:avLst/>
          </a:prstGeom>
          <a:solidFill>
            <a:srgbClr val="087E8B"/>
          </a:solidFill>
          <a:ln w="8890">
            <a:solidFill>
              <a:srgbClr val="087E8B"/>
            </a:solidFill>
            <a:prstDash val="solid"/>
          </a:ln>
        </p:spPr>
      </p:sp>
      <p:sp>
        <p:nvSpPr>
          <p:cNvPr id="20" name="Text 18"/>
          <p:cNvSpPr/>
          <p:nvPr/>
        </p:nvSpPr>
        <p:spPr>
          <a:xfrm>
            <a:off x="10030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Scope</a:t>
            </a:r>
            <a:endParaRPr lang="en-US" sz="1800" dirty="0"/>
          </a:p>
        </p:txBody>
      </p:sp>
      <p:sp>
        <p:nvSpPr>
          <p:cNvPr id="21" name="Text 19"/>
          <p:cNvSpPr/>
          <p:nvPr/>
        </p:nvSpPr>
        <p:spPr>
          <a:xfrm>
            <a:off x="10030968" y="3161538"/>
            <a:ext cx="3858768" cy="416814"/>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Within which boundary?</a:t>
            </a:r>
            <a:endParaRPr lang="en-US" sz="2200" dirty="0"/>
          </a:p>
        </p:txBody>
      </p:sp>
      <p:sp>
        <p:nvSpPr>
          <p:cNvPr id="22" name="Shape 20"/>
          <p:cNvSpPr/>
          <p:nvPr/>
        </p:nvSpPr>
        <p:spPr>
          <a:xfrm>
            <a:off x="658368" y="4736592"/>
            <a:ext cx="4315968" cy="1965960"/>
          </a:xfrm>
          <a:prstGeom prst="roundRect">
            <a:avLst>
              <a:gd name="adj" fmla="val 5581"/>
            </a:avLst>
          </a:prstGeom>
          <a:solidFill>
            <a:srgbClr val="FFFFFF"/>
          </a:solidFill>
          <a:ln w="8890">
            <a:solidFill>
              <a:srgbClr val="CCD7E2"/>
            </a:solidFill>
            <a:prstDash val="solid"/>
          </a:ln>
        </p:spPr>
      </p:sp>
      <p:sp>
        <p:nvSpPr>
          <p:cNvPr id="23" name="Shape 21"/>
          <p:cNvSpPr/>
          <p:nvPr/>
        </p:nvSpPr>
        <p:spPr>
          <a:xfrm>
            <a:off x="658368" y="4736592"/>
            <a:ext cx="50292" cy="1965960"/>
          </a:xfrm>
          <a:prstGeom prst="rect">
            <a:avLst/>
          </a:prstGeom>
          <a:solidFill>
            <a:srgbClr val="087E8B"/>
          </a:solidFill>
          <a:ln w="8890">
            <a:solidFill>
              <a:srgbClr val="087E8B"/>
            </a:solidFill>
            <a:prstDash val="solid"/>
          </a:ln>
        </p:spPr>
      </p:sp>
      <p:sp>
        <p:nvSpPr>
          <p:cNvPr id="24" name="Text 22"/>
          <p:cNvSpPr/>
          <p:nvPr/>
        </p:nvSpPr>
        <p:spPr>
          <a:xfrm>
            <a:off x="886968" y="4965192"/>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Grant</a:t>
            </a:r>
            <a:endParaRPr lang="en-US" sz="1800" dirty="0"/>
          </a:p>
        </p:txBody>
      </p:sp>
      <p:sp>
        <p:nvSpPr>
          <p:cNvPr id="25" name="Text 23"/>
          <p:cNvSpPr/>
          <p:nvPr/>
        </p:nvSpPr>
        <p:spPr>
          <a:xfrm>
            <a:off x="886968" y="5429250"/>
            <a:ext cx="385876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Which bounded authority is</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defined?</a:t>
            </a:r>
            <a:endParaRPr lang="en-US" sz="2200" dirty="0"/>
          </a:p>
        </p:txBody>
      </p:sp>
      <p:sp>
        <p:nvSpPr>
          <p:cNvPr id="26" name="Shape 24"/>
          <p:cNvSpPr/>
          <p:nvPr/>
        </p:nvSpPr>
        <p:spPr>
          <a:xfrm>
            <a:off x="5230368" y="4736592"/>
            <a:ext cx="4315968" cy="1965960"/>
          </a:xfrm>
          <a:prstGeom prst="roundRect">
            <a:avLst>
              <a:gd name="adj" fmla="val 5581"/>
            </a:avLst>
          </a:prstGeom>
          <a:solidFill>
            <a:srgbClr val="FFFFFF"/>
          </a:solidFill>
          <a:ln w="8890">
            <a:solidFill>
              <a:srgbClr val="CCD7E2"/>
            </a:solidFill>
            <a:prstDash val="solid"/>
          </a:ln>
        </p:spPr>
      </p:sp>
      <p:sp>
        <p:nvSpPr>
          <p:cNvPr id="27" name="Shape 25"/>
          <p:cNvSpPr/>
          <p:nvPr/>
        </p:nvSpPr>
        <p:spPr>
          <a:xfrm>
            <a:off x="5230368" y="4736592"/>
            <a:ext cx="50292" cy="1965960"/>
          </a:xfrm>
          <a:prstGeom prst="rect">
            <a:avLst/>
          </a:prstGeom>
          <a:solidFill>
            <a:srgbClr val="087E8B"/>
          </a:solidFill>
          <a:ln w="8890">
            <a:solidFill>
              <a:srgbClr val="087E8B"/>
            </a:solidFill>
            <a:prstDash val="solid"/>
          </a:ln>
        </p:spPr>
      </p:sp>
      <p:sp>
        <p:nvSpPr>
          <p:cNvPr id="28" name="Text 26"/>
          <p:cNvSpPr/>
          <p:nvPr/>
        </p:nvSpPr>
        <p:spPr>
          <a:xfrm>
            <a:off x="5458968" y="4965192"/>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Assignment</a:t>
            </a:r>
            <a:endParaRPr lang="en-US" sz="1800" dirty="0"/>
          </a:p>
        </p:txBody>
      </p:sp>
      <p:sp>
        <p:nvSpPr>
          <p:cNvPr id="29" name="Text 27"/>
          <p:cNvSpPr/>
          <p:nvPr/>
        </p:nvSpPr>
        <p:spPr>
          <a:xfrm>
            <a:off x="5458968" y="5429250"/>
            <a:ext cx="3858768" cy="416814"/>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Who receives that grant?</a:t>
            </a:r>
            <a:endParaRPr lang="en-US" sz="2200" dirty="0"/>
          </a:p>
        </p:txBody>
      </p:sp>
      <p:sp>
        <p:nvSpPr>
          <p:cNvPr id="30" name="Shape 28"/>
          <p:cNvSpPr/>
          <p:nvPr/>
        </p:nvSpPr>
        <p:spPr>
          <a:xfrm>
            <a:off x="9802368" y="4736592"/>
            <a:ext cx="4315968" cy="1965960"/>
          </a:xfrm>
          <a:prstGeom prst="roundRect">
            <a:avLst>
              <a:gd name="adj" fmla="val 5581"/>
            </a:avLst>
          </a:prstGeom>
          <a:solidFill>
            <a:srgbClr val="FFFFFF"/>
          </a:solidFill>
          <a:ln w="8890">
            <a:solidFill>
              <a:srgbClr val="CCD7E2"/>
            </a:solidFill>
            <a:prstDash val="solid"/>
          </a:ln>
        </p:spPr>
      </p:sp>
      <p:sp>
        <p:nvSpPr>
          <p:cNvPr id="31" name="Shape 29"/>
          <p:cNvSpPr/>
          <p:nvPr/>
        </p:nvSpPr>
        <p:spPr>
          <a:xfrm>
            <a:off x="9802368" y="4736592"/>
            <a:ext cx="50292" cy="1965960"/>
          </a:xfrm>
          <a:prstGeom prst="rect">
            <a:avLst/>
          </a:prstGeom>
          <a:solidFill>
            <a:srgbClr val="087E8B"/>
          </a:solidFill>
          <a:ln w="8890">
            <a:solidFill>
              <a:srgbClr val="087E8B"/>
            </a:solidFill>
            <a:prstDash val="solid"/>
          </a:ln>
        </p:spPr>
      </p:sp>
      <p:sp>
        <p:nvSpPr>
          <p:cNvPr id="32" name="Text 30"/>
          <p:cNvSpPr/>
          <p:nvPr/>
        </p:nvSpPr>
        <p:spPr>
          <a:xfrm>
            <a:off x="10030968" y="4965192"/>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Evaluation</a:t>
            </a:r>
            <a:endParaRPr lang="en-US" sz="1800" dirty="0"/>
          </a:p>
        </p:txBody>
      </p:sp>
      <p:sp>
        <p:nvSpPr>
          <p:cNvPr id="33" name="Text 31"/>
          <p:cNvSpPr/>
          <p:nvPr/>
        </p:nvSpPr>
        <p:spPr>
          <a:xfrm>
            <a:off x="10030968" y="5429250"/>
            <a:ext cx="385876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Does valid authority cover</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this request?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IDENTITY</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Human, actor and principal</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The actual caller and the authority anchor are distinct roles.</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For a direct human: actor.id equals human_id.</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03</a:t>
            </a:r>
            <a:endParaRPr lang="en-US" sz="1400" dirty="0"/>
          </a:p>
        </p:txBody>
      </p:sp>
      <p:sp>
        <p:nvSpPr>
          <p:cNvPr id="10" name="Text 8"/>
          <p:cNvSpPr/>
          <p:nvPr/>
        </p:nvSpPr>
        <p:spPr>
          <a:xfrm>
            <a:off x="658368" y="2404872"/>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Human / user</a:t>
            </a:r>
            <a:endParaRPr lang="en-US" sz="2200" dirty="0"/>
          </a:p>
        </p:txBody>
      </p:sp>
      <p:sp>
        <p:nvSpPr>
          <p:cNvPr id="11" name="Text 9"/>
          <p:cNvSpPr/>
          <p:nvPr/>
        </p:nvSpPr>
        <p:spPr>
          <a:xfrm>
            <a:off x="658368" y="2867406"/>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human identity; actor type</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is user.</a:t>
            </a:r>
            <a:endParaRPr lang="en-US" sz="2200" dirty="0"/>
          </a:p>
        </p:txBody>
      </p:sp>
      <p:sp>
        <p:nvSpPr>
          <p:cNvPr id="12" name="Text 10"/>
          <p:cNvSpPr/>
          <p:nvPr/>
        </p:nvSpPr>
        <p:spPr>
          <a:xfrm>
            <a:off x="658368" y="3920490"/>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Actor / caller</a:t>
            </a:r>
            <a:endParaRPr lang="en-US" sz="2200" dirty="0"/>
          </a:p>
        </p:txBody>
      </p:sp>
      <p:sp>
        <p:nvSpPr>
          <p:cNvPr id="13" name="Text 11"/>
          <p:cNvSpPr/>
          <p:nvPr/>
        </p:nvSpPr>
        <p:spPr>
          <a:xfrm>
            <a:off x="658368" y="4383024"/>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person or program making</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this request.</a:t>
            </a:r>
            <a:endParaRPr lang="en-US" sz="2200" dirty="0"/>
          </a:p>
        </p:txBody>
      </p:sp>
      <p:sp>
        <p:nvSpPr>
          <p:cNvPr id="14" name="Text 12"/>
          <p:cNvSpPr/>
          <p:nvPr/>
        </p:nvSpPr>
        <p:spPr>
          <a:xfrm>
            <a:off x="658368" y="5436108"/>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Principal</a:t>
            </a:r>
            <a:endParaRPr lang="en-US" sz="2200" dirty="0"/>
          </a:p>
        </p:txBody>
      </p:sp>
      <p:sp>
        <p:nvSpPr>
          <p:cNvPr id="15" name="Text 13"/>
          <p:cNvSpPr/>
          <p:nvPr/>
        </p:nvSpPr>
        <p:spPr>
          <a:xfrm>
            <a:off x="658368" y="5898642"/>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An umbrella term—not another</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record or field.</a:t>
            </a:r>
            <a:endParaRPr lang="en-US" sz="2200" dirty="0"/>
          </a:p>
        </p:txBody>
      </p:sp>
      <p:sp>
        <p:nvSpPr>
          <p:cNvPr id="16" name="Shape 14"/>
          <p:cNvSpPr/>
          <p:nvPr/>
        </p:nvSpPr>
        <p:spPr>
          <a:xfrm>
            <a:off x="5806440" y="2286000"/>
            <a:ext cx="8229600" cy="5029200"/>
          </a:xfrm>
          <a:prstGeom prst="roundRect">
            <a:avLst>
              <a:gd name="adj" fmla="val 2182"/>
            </a:avLst>
          </a:prstGeom>
          <a:solidFill>
            <a:srgbClr val="14263D"/>
          </a:solidFill>
          <a:ln w="8890">
            <a:solidFill>
              <a:srgbClr val="14263D"/>
            </a:solidFill>
            <a:prstDash val="solid"/>
          </a:ln>
        </p:spPr>
      </p:sp>
      <p:sp>
        <p:nvSpPr>
          <p:cNvPr id="17" name="Text 15"/>
          <p:cNvSpPr/>
          <p:nvPr/>
        </p:nvSpPr>
        <p:spPr>
          <a:xfrm>
            <a:off x="6062472" y="246888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APPROVED CORE JSON · DIRECT HUMAN</a:t>
            </a:r>
            <a:endParaRPr lang="en-US" sz="1100" dirty="0"/>
          </a:p>
        </p:txBody>
      </p:sp>
      <p:sp>
        <p:nvSpPr>
          <p:cNvPr id="18" name="Text 16"/>
          <p:cNvSpPr/>
          <p:nvPr/>
        </p:nvSpPr>
        <p:spPr>
          <a:xfrm>
            <a:off x="6062472" y="289864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9" name="Text 17"/>
          <p:cNvSpPr/>
          <p:nvPr/>
        </p:nvSpPr>
        <p:spPr>
          <a:xfrm>
            <a:off x="6062472" y="316382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0" name="Text 18"/>
          <p:cNvSpPr/>
          <p:nvPr/>
        </p:nvSpPr>
        <p:spPr>
          <a:xfrm>
            <a:off x="6062472" y="342900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"actor": {"type": "user", "id": "U-17"},</a:t>
            </a:r>
            <a:endParaRPr lang="en-US" sz="1700" dirty="0"/>
          </a:p>
        </p:txBody>
      </p:sp>
      <p:sp>
        <p:nvSpPr>
          <p:cNvPr id="21" name="Text 19"/>
          <p:cNvSpPr/>
          <p:nvPr/>
        </p:nvSpPr>
        <p:spPr>
          <a:xfrm>
            <a:off x="6062472" y="369417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"human_id": "U-17"</a:t>
            </a:r>
            <a:endParaRPr lang="en-US" sz="1700" dirty="0"/>
          </a:p>
        </p:txBody>
      </p:sp>
      <p:sp>
        <p:nvSpPr>
          <p:cNvPr id="22" name="Text 20"/>
          <p:cNvSpPr/>
          <p:nvPr/>
        </p:nvSpPr>
        <p:spPr>
          <a:xfrm>
            <a:off x="6062472" y="395935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IDENTITY</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Agent and service account are proxies</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In our model, neither supplies independent authority.</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Automated actors are not first-class members of authorization teams.</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04</a:t>
            </a:r>
            <a:endParaRPr lang="en-US" sz="1400" dirty="0"/>
          </a:p>
        </p:txBody>
      </p:sp>
      <p:sp>
        <p:nvSpPr>
          <p:cNvPr id="10" name="Text 8"/>
          <p:cNvSpPr/>
          <p:nvPr/>
        </p:nvSpPr>
        <p:spPr>
          <a:xfrm>
            <a:off x="658368" y="2404872"/>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Actor</a:t>
            </a:r>
            <a:endParaRPr lang="en-US" sz="2200" dirty="0"/>
          </a:p>
        </p:txBody>
      </p:sp>
      <p:sp>
        <p:nvSpPr>
          <p:cNvPr id="11" name="Text 9"/>
          <p:cNvSpPr/>
          <p:nvPr/>
        </p:nvSpPr>
        <p:spPr>
          <a:xfrm>
            <a:off x="658368" y="2867406"/>
            <a:ext cx="4681728" cy="416814"/>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actual automated caller.</a:t>
            </a:r>
            <a:endParaRPr lang="en-US" sz="2200" dirty="0"/>
          </a:p>
        </p:txBody>
      </p:sp>
      <p:sp>
        <p:nvSpPr>
          <p:cNvPr id="12" name="Text 10"/>
          <p:cNvSpPr/>
          <p:nvPr/>
        </p:nvSpPr>
        <p:spPr>
          <a:xfrm>
            <a:off x="658368" y="3576828"/>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human_id</a:t>
            </a:r>
            <a:endParaRPr lang="en-US" sz="2200" dirty="0"/>
          </a:p>
        </p:txBody>
      </p:sp>
      <p:sp>
        <p:nvSpPr>
          <p:cNvPr id="13" name="Text 11"/>
          <p:cNvSpPr/>
          <p:nvPr/>
        </p:nvSpPr>
        <p:spPr>
          <a:xfrm>
            <a:off x="658368" y="4039362"/>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human whose authority bounds</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request.</a:t>
            </a:r>
            <a:endParaRPr lang="en-US" sz="2200" dirty="0"/>
          </a:p>
        </p:txBody>
      </p:sp>
      <p:sp>
        <p:nvSpPr>
          <p:cNvPr id="14" name="Text 12"/>
          <p:cNvSpPr/>
          <p:nvPr/>
        </p:nvSpPr>
        <p:spPr>
          <a:xfrm>
            <a:off x="658368" y="5092446"/>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Trust required</a:t>
            </a:r>
            <a:endParaRPr lang="en-US" sz="2200" dirty="0"/>
          </a:p>
        </p:txBody>
      </p:sp>
      <p:sp>
        <p:nvSpPr>
          <p:cNvPr id="15" name="Text 13"/>
          <p:cNvSpPr/>
          <p:nvPr/>
        </p:nvSpPr>
        <p:spPr>
          <a:xfrm>
            <a:off x="658368" y="5554980"/>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association and delegation</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must be established.</a:t>
            </a:r>
            <a:endParaRPr lang="en-US" sz="2200" dirty="0"/>
          </a:p>
        </p:txBody>
      </p:sp>
      <p:sp>
        <p:nvSpPr>
          <p:cNvPr id="16" name="Shape 14"/>
          <p:cNvSpPr/>
          <p:nvPr/>
        </p:nvSpPr>
        <p:spPr>
          <a:xfrm>
            <a:off x="5806440" y="2148840"/>
            <a:ext cx="8229600" cy="2331720"/>
          </a:xfrm>
          <a:prstGeom prst="roundRect">
            <a:avLst>
              <a:gd name="adj" fmla="val 4706"/>
            </a:avLst>
          </a:prstGeom>
          <a:solidFill>
            <a:srgbClr val="14263D"/>
          </a:solidFill>
          <a:ln w="8890">
            <a:solidFill>
              <a:srgbClr val="14263D"/>
            </a:solidFill>
            <a:prstDash val="solid"/>
          </a:ln>
        </p:spPr>
      </p:sp>
      <p:sp>
        <p:nvSpPr>
          <p:cNvPr id="17" name="Text 15"/>
          <p:cNvSpPr/>
          <p:nvPr/>
        </p:nvSpPr>
        <p:spPr>
          <a:xfrm>
            <a:off x="6062472" y="233172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AGENT · APPROVED IDENTITY SHAPE</a:t>
            </a:r>
            <a:endParaRPr lang="en-US" sz="1100" dirty="0"/>
          </a:p>
        </p:txBody>
      </p:sp>
      <p:sp>
        <p:nvSpPr>
          <p:cNvPr id="18" name="Text 16"/>
          <p:cNvSpPr/>
          <p:nvPr/>
        </p:nvSpPr>
        <p:spPr>
          <a:xfrm>
            <a:off x="6062472" y="276148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9" name="Text 17"/>
          <p:cNvSpPr/>
          <p:nvPr/>
        </p:nvSpPr>
        <p:spPr>
          <a:xfrm>
            <a:off x="6062472" y="302666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0" name="Text 18"/>
          <p:cNvSpPr/>
          <p:nvPr/>
        </p:nvSpPr>
        <p:spPr>
          <a:xfrm>
            <a:off x="6062472" y="329184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"actor": {"type": "agent", "id": "A-17"},</a:t>
            </a:r>
            <a:endParaRPr lang="en-US" sz="1700" dirty="0"/>
          </a:p>
        </p:txBody>
      </p:sp>
      <p:sp>
        <p:nvSpPr>
          <p:cNvPr id="21" name="Text 19"/>
          <p:cNvSpPr/>
          <p:nvPr/>
        </p:nvSpPr>
        <p:spPr>
          <a:xfrm>
            <a:off x="6062472" y="355701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"human_id": "U-17"</a:t>
            </a:r>
            <a:endParaRPr lang="en-US" sz="1700" dirty="0"/>
          </a:p>
        </p:txBody>
      </p:sp>
      <p:sp>
        <p:nvSpPr>
          <p:cNvPr id="22" name="Text 20"/>
          <p:cNvSpPr/>
          <p:nvPr/>
        </p:nvSpPr>
        <p:spPr>
          <a:xfrm>
            <a:off x="6062472" y="382219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23" name="Shape 21"/>
          <p:cNvSpPr/>
          <p:nvPr/>
        </p:nvSpPr>
        <p:spPr>
          <a:xfrm>
            <a:off x="5806440" y="4626864"/>
            <a:ext cx="8229600" cy="2596896"/>
          </a:xfrm>
          <a:prstGeom prst="roundRect">
            <a:avLst>
              <a:gd name="adj" fmla="val 4225"/>
            </a:avLst>
          </a:prstGeom>
          <a:solidFill>
            <a:srgbClr val="14263D"/>
          </a:solidFill>
          <a:ln w="8890">
            <a:solidFill>
              <a:srgbClr val="14263D"/>
            </a:solidFill>
            <a:prstDash val="solid"/>
          </a:ln>
        </p:spPr>
      </p:sp>
      <p:sp>
        <p:nvSpPr>
          <p:cNvPr id="24" name="Text 22"/>
          <p:cNvSpPr/>
          <p:nvPr/>
        </p:nvSpPr>
        <p:spPr>
          <a:xfrm>
            <a:off x="6062472" y="4809744"/>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SERVICE ACCOUNT · SAME SHAPE</a:t>
            </a:r>
            <a:endParaRPr lang="en-US" sz="1100" dirty="0"/>
          </a:p>
        </p:txBody>
      </p:sp>
      <p:sp>
        <p:nvSpPr>
          <p:cNvPr id="25" name="Text 23"/>
          <p:cNvSpPr/>
          <p:nvPr/>
        </p:nvSpPr>
        <p:spPr>
          <a:xfrm>
            <a:off x="6062472" y="523951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26" name="Text 24"/>
          <p:cNvSpPr/>
          <p:nvPr/>
        </p:nvSpPr>
        <p:spPr>
          <a:xfrm>
            <a:off x="6062472" y="550468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7" name="Text 25"/>
          <p:cNvSpPr/>
          <p:nvPr/>
        </p:nvSpPr>
        <p:spPr>
          <a:xfrm>
            <a:off x="6062472" y="576986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"actor": {"type": "service_account", "id": "SA-17"},</a:t>
            </a:r>
            <a:endParaRPr lang="en-US" sz="1700" dirty="0"/>
          </a:p>
        </p:txBody>
      </p:sp>
      <p:sp>
        <p:nvSpPr>
          <p:cNvPr id="28" name="Text 26"/>
          <p:cNvSpPr/>
          <p:nvPr/>
        </p:nvSpPr>
        <p:spPr>
          <a:xfrm>
            <a:off x="6062472" y="603504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"human_id": "U-17"</a:t>
            </a:r>
            <a:endParaRPr lang="en-US" sz="1700" dirty="0"/>
          </a:p>
        </p:txBody>
      </p:sp>
      <p:sp>
        <p:nvSpPr>
          <p:cNvPr id="29" name="Text 27"/>
          <p:cNvSpPr/>
          <p:nvPr/>
        </p:nvSpPr>
        <p:spPr>
          <a:xfrm>
            <a:off x="6062472" y="630021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IDENTITY</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JWT subject stays human</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Subject identifies the human; actor identifies the caller.</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Keeping sub compatible does not bypass proxy restrictions.</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05</a:t>
            </a:r>
            <a:endParaRPr lang="en-US" sz="1400" dirty="0"/>
          </a:p>
        </p:txBody>
      </p:sp>
      <p:sp>
        <p:nvSpPr>
          <p:cNvPr id="10" name="Text 8"/>
          <p:cNvSpPr/>
          <p:nvPr/>
        </p:nvSpPr>
        <p:spPr>
          <a:xfrm>
            <a:off x="658368" y="2404872"/>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sub</a:t>
            </a:r>
            <a:endParaRPr lang="en-US" sz="2200" dirty="0"/>
          </a:p>
        </p:txBody>
      </p:sp>
      <p:sp>
        <p:nvSpPr>
          <p:cNvPr id="11" name="Text 9"/>
          <p:cNvSpPr/>
          <p:nvPr/>
        </p:nvSpPr>
        <p:spPr>
          <a:xfrm>
            <a:off x="658368" y="2867406"/>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human subject in our JWT</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profile.</a:t>
            </a:r>
            <a:endParaRPr lang="en-US" sz="2200" dirty="0"/>
          </a:p>
        </p:txBody>
      </p:sp>
      <p:sp>
        <p:nvSpPr>
          <p:cNvPr id="12" name="Text 10"/>
          <p:cNvSpPr/>
          <p:nvPr/>
        </p:nvSpPr>
        <p:spPr>
          <a:xfrm>
            <a:off x="658368" y="3920490"/>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identity.actor</a:t>
            </a:r>
            <a:endParaRPr lang="en-US" sz="2200" dirty="0"/>
          </a:p>
        </p:txBody>
      </p:sp>
      <p:sp>
        <p:nvSpPr>
          <p:cNvPr id="13" name="Text 11"/>
          <p:cNvSpPr/>
          <p:nvPr/>
        </p:nvSpPr>
        <p:spPr>
          <a:xfrm>
            <a:off x="658368" y="4383024"/>
            <a:ext cx="4681728" cy="416814"/>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actual caller, here A-17.</a:t>
            </a:r>
            <a:endParaRPr lang="en-US" sz="2200" dirty="0"/>
          </a:p>
        </p:txBody>
      </p:sp>
      <p:sp>
        <p:nvSpPr>
          <p:cNvPr id="14" name="Text 12"/>
          <p:cNvSpPr/>
          <p:nvPr/>
        </p:nvSpPr>
        <p:spPr>
          <a:xfrm>
            <a:off x="658368" y="5092446"/>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Same identity block</a:t>
            </a:r>
            <a:endParaRPr lang="en-US" sz="2200" dirty="0"/>
          </a:p>
        </p:txBody>
      </p:sp>
      <p:sp>
        <p:nvSpPr>
          <p:cNvPr id="15" name="Text 13"/>
          <p:cNvSpPr/>
          <p:nvPr/>
        </p:nvSpPr>
        <p:spPr>
          <a:xfrm>
            <a:off x="658368" y="5554980"/>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Reusable beyond the JWT</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transport.</a:t>
            </a:r>
            <a:endParaRPr lang="en-US" sz="2200" dirty="0"/>
          </a:p>
        </p:txBody>
      </p:sp>
      <p:sp>
        <p:nvSpPr>
          <p:cNvPr id="16" name="Shape 14"/>
          <p:cNvSpPr/>
          <p:nvPr/>
        </p:nvSpPr>
        <p:spPr>
          <a:xfrm>
            <a:off x="5806440" y="2286000"/>
            <a:ext cx="8229600" cy="5029200"/>
          </a:xfrm>
          <a:prstGeom prst="roundRect">
            <a:avLst>
              <a:gd name="adj" fmla="val 2182"/>
            </a:avLst>
          </a:prstGeom>
          <a:solidFill>
            <a:srgbClr val="14263D"/>
          </a:solidFill>
          <a:ln w="8890">
            <a:solidFill>
              <a:srgbClr val="14263D"/>
            </a:solidFill>
            <a:prstDash val="solid"/>
          </a:ln>
        </p:spPr>
      </p:sp>
      <p:sp>
        <p:nvSpPr>
          <p:cNvPr id="17" name="Text 15"/>
          <p:cNvSpPr/>
          <p:nvPr/>
        </p:nvSpPr>
        <p:spPr>
          <a:xfrm>
            <a:off x="6062472" y="246888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JWT PAYLOAD EXCERPT · NOT A COMPLETE TOKEN</a:t>
            </a:r>
            <a:endParaRPr lang="en-US" sz="1100" dirty="0"/>
          </a:p>
        </p:txBody>
      </p:sp>
      <p:sp>
        <p:nvSpPr>
          <p:cNvPr id="18" name="Text 16"/>
          <p:cNvSpPr/>
          <p:nvPr/>
        </p:nvSpPr>
        <p:spPr>
          <a:xfrm>
            <a:off x="6062472" y="289864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9" name="Text 17"/>
          <p:cNvSpPr/>
          <p:nvPr/>
        </p:nvSpPr>
        <p:spPr>
          <a:xfrm>
            <a:off x="6062472" y="316382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0" name="Text 18"/>
          <p:cNvSpPr/>
          <p:nvPr/>
        </p:nvSpPr>
        <p:spPr>
          <a:xfrm>
            <a:off x="6062472" y="342900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"sub": "U-17",</a:t>
            </a:r>
            <a:endParaRPr lang="en-US" sz="1700" dirty="0"/>
          </a:p>
        </p:txBody>
      </p:sp>
      <p:sp>
        <p:nvSpPr>
          <p:cNvPr id="21" name="Text 19"/>
          <p:cNvSpPr/>
          <p:nvPr/>
        </p:nvSpPr>
        <p:spPr>
          <a:xfrm>
            <a:off x="6062472" y="369417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"identity": {</a:t>
            </a:r>
            <a:endParaRPr lang="en-US" sz="1700" dirty="0"/>
          </a:p>
        </p:txBody>
      </p:sp>
      <p:sp>
        <p:nvSpPr>
          <p:cNvPr id="22" name="Text 20"/>
          <p:cNvSpPr/>
          <p:nvPr/>
        </p:nvSpPr>
        <p:spPr>
          <a:xfrm>
            <a:off x="6062472" y="395935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3" name="Text 21"/>
          <p:cNvSpPr/>
          <p:nvPr/>
        </p:nvSpPr>
        <p:spPr>
          <a:xfrm>
            <a:off x="6062472" y="422452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"actor": {"type": "agent", "id": "A-17"},</a:t>
            </a:r>
            <a:endParaRPr lang="en-US" sz="1700" dirty="0"/>
          </a:p>
        </p:txBody>
      </p:sp>
      <p:sp>
        <p:nvSpPr>
          <p:cNvPr id="24" name="Text 22"/>
          <p:cNvSpPr/>
          <p:nvPr/>
        </p:nvSpPr>
        <p:spPr>
          <a:xfrm>
            <a:off x="6062472" y="448970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"human_id": "U-17"</a:t>
            </a:r>
            <a:endParaRPr lang="en-US" sz="1700" dirty="0"/>
          </a:p>
        </p:txBody>
      </p:sp>
      <p:sp>
        <p:nvSpPr>
          <p:cNvPr id="25" name="Text 23"/>
          <p:cNvSpPr/>
          <p:nvPr/>
        </p:nvSpPr>
        <p:spPr>
          <a:xfrm>
            <a:off x="6062472" y="475488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a:t>
            </a:r>
            <a:endParaRPr lang="en-US" sz="1700" dirty="0"/>
          </a:p>
        </p:txBody>
      </p:sp>
      <p:sp>
        <p:nvSpPr>
          <p:cNvPr id="26" name="Text 24"/>
          <p:cNvSpPr/>
          <p:nvPr/>
        </p:nvSpPr>
        <p:spPr>
          <a:xfrm>
            <a:off x="6062472" y="502005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CONTEXT</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Tenant is the enclosing boundary</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A path claim is not trusted tenant context.</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Tenant is implied in grant scope—not a removable scope key.</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06</a:t>
            </a:r>
            <a:endParaRPr lang="en-US" sz="1400" dirty="0"/>
          </a:p>
        </p:txBody>
      </p:sp>
      <p:sp>
        <p:nvSpPr>
          <p:cNvPr id="10" name="Shape 8"/>
          <p:cNvSpPr/>
          <p:nvPr/>
        </p:nvSpPr>
        <p:spPr>
          <a:xfrm>
            <a:off x="658368" y="2468880"/>
            <a:ext cx="4315968" cy="4133088"/>
          </a:xfrm>
          <a:prstGeom prst="roundRect">
            <a:avLst>
              <a:gd name="adj" fmla="val 2655"/>
            </a:avLst>
          </a:prstGeom>
          <a:solidFill>
            <a:srgbClr val="FFFFFF"/>
          </a:solidFill>
          <a:ln w="8890">
            <a:solidFill>
              <a:srgbClr val="CCD7E2"/>
            </a:solidFill>
            <a:prstDash val="solid"/>
          </a:ln>
        </p:spPr>
      </p:sp>
      <p:sp>
        <p:nvSpPr>
          <p:cNvPr id="11" name="Shape 9"/>
          <p:cNvSpPr/>
          <p:nvPr/>
        </p:nvSpPr>
        <p:spPr>
          <a:xfrm>
            <a:off x="658368" y="2468880"/>
            <a:ext cx="50292" cy="4133088"/>
          </a:xfrm>
          <a:prstGeom prst="rect">
            <a:avLst/>
          </a:prstGeom>
          <a:solidFill>
            <a:srgbClr val="087E8B"/>
          </a:solidFill>
          <a:ln w="8890">
            <a:solidFill>
              <a:srgbClr val="087E8B"/>
            </a:solidFill>
            <a:prstDash val="solid"/>
          </a:ln>
        </p:spPr>
      </p:sp>
      <p:sp>
        <p:nvSpPr>
          <p:cNvPr id="12" name="Text 10"/>
          <p:cNvSpPr/>
          <p:nvPr/>
        </p:nvSpPr>
        <p:spPr>
          <a:xfrm>
            <a:off x="886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Tenant context</a:t>
            </a:r>
            <a:endParaRPr lang="en-US" sz="1800" dirty="0"/>
          </a:p>
        </p:txBody>
      </p:sp>
      <p:sp>
        <p:nvSpPr>
          <p:cNvPr id="13" name="Text 11"/>
          <p:cNvSpPr/>
          <p:nvPr/>
        </p:nvSpPr>
        <p:spPr>
          <a:xfrm>
            <a:off x="886968" y="3161538"/>
            <a:ext cx="3858768" cy="1244727"/>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Established outer</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isolation for ordinary</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tenant authority.</a:t>
            </a:r>
            <a:endParaRPr lang="en-US" sz="2500" dirty="0"/>
          </a:p>
        </p:txBody>
      </p:sp>
      <p:sp>
        <p:nvSpPr>
          <p:cNvPr id="14" name="Shape 12"/>
          <p:cNvSpPr/>
          <p:nvPr/>
        </p:nvSpPr>
        <p:spPr>
          <a:xfrm>
            <a:off x="5230368" y="2468880"/>
            <a:ext cx="4315968" cy="4133088"/>
          </a:xfrm>
          <a:prstGeom prst="roundRect">
            <a:avLst>
              <a:gd name="adj" fmla="val 2655"/>
            </a:avLst>
          </a:prstGeom>
          <a:solidFill>
            <a:srgbClr val="FFFFFF"/>
          </a:solidFill>
          <a:ln w="8890">
            <a:solidFill>
              <a:srgbClr val="CCD7E2"/>
            </a:solidFill>
            <a:prstDash val="solid"/>
          </a:ln>
        </p:spPr>
      </p:sp>
      <p:sp>
        <p:nvSpPr>
          <p:cNvPr id="15" name="Shape 13"/>
          <p:cNvSpPr/>
          <p:nvPr/>
        </p:nvSpPr>
        <p:spPr>
          <a:xfrm>
            <a:off x="5230368" y="2468880"/>
            <a:ext cx="50292" cy="4133088"/>
          </a:xfrm>
          <a:prstGeom prst="rect">
            <a:avLst/>
          </a:prstGeom>
          <a:solidFill>
            <a:srgbClr val="087E8B"/>
          </a:solidFill>
          <a:ln w="8890">
            <a:solidFill>
              <a:srgbClr val="087E8B"/>
            </a:solidFill>
            <a:prstDash val="solid"/>
          </a:ln>
        </p:spPr>
      </p:sp>
      <p:sp>
        <p:nvSpPr>
          <p:cNvPr id="16" name="Text 14"/>
          <p:cNvSpPr/>
          <p:nvPr/>
        </p:nvSpPr>
        <p:spPr>
          <a:xfrm>
            <a:off x="5458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Scope</a:t>
            </a:r>
            <a:endParaRPr lang="en-US" sz="1800" dirty="0"/>
          </a:p>
        </p:txBody>
      </p:sp>
      <p:sp>
        <p:nvSpPr>
          <p:cNvPr id="17" name="Text 15"/>
          <p:cNvSpPr/>
          <p:nvPr/>
        </p:nvSpPr>
        <p:spPr>
          <a:xfrm>
            <a:off x="5458968" y="3161538"/>
            <a:ext cx="3858768" cy="1244727"/>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A narrower selection</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inside the enclosing</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boundary.</a:t>
            </a:r>
            <a:endParaRPr lang="en-US" sz="2500" dirty="0"/>
          </a:p>
        </p:txBody>
      </p:sp>
      <p:sp>
        <p:nvSpPr>
          <p:cNvPr id="18" name="Shape 16"/>
          <p:cNvSpPr/>
          <p:nvPr/>
        </p:nvSpPr>
        <p:spPr>
          <a:xfrm>
            <a:off x="9802368" y="2468880"/>
            <a:ext cx="4315968" cy="4133088"/>
          </a:xfrm>
          <a:prstGeom prst="roundRect">
            <a:avLst>
              <a:gd name="adj" fmla="val 2655"/>
            </a:avLst>
          </a:prstGeom>
          <a:solidFill>
            <a:srgbClr val="FFFFFF"/>
          </a:solidFill>
          <a:ln w="8890">
            <a:solidFill>
              <a:srgbClr val="CCD7E2"/>
            </a:solidFill>
            <a:prstDash val="solid"/>
          </a:ln>
        </p:spPr>
      </p:sp>
      <p:sp>
        <p:nvSpPr>
          <p:cNvPr id="19" name="Shape 17"/>
          <p:cNvSpPr/>
          <p:nvPr/>
        </p:nvSpPr>
        <p:spPr>
          <a:xfrm>
            <a:off x="9802368" y="2468880"/>
            <a:ext cx="50292" cy="4133088"/>
          </a:xfrm>
          <a:prstGeom prst="rect">
            <a:avLst/>
          </a:prstGeom>
          <a:solidFill>
            <a:srgbClr val="087E8B"/>
          </a:solidFill>
          <a:ln w="8890">
            <a:solidFill>
              <a:srgbClr val="087E8B"/>
            </a:solidFill>
            <a:prstDash val="solid"/>
          </a:ln>
        </p:spPr>
      </p:sp>
      <p:sp>
        <p:nvSpPr>
          <p:cNvPr id="20" name="Text 18"/>
          <p:cNvSpPr/>
          <p:nvPr/>
        </p:nvSpPr>
        <p:spPr>
          <a:xfrm>
            <a:off x="10030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Application</a:t>
            </a:r>
            <a:endParaRPr lang="en-US" sz="1800" dirty="0"/>
          </a:p>
        </p:txBody>
      </p:sp>
      <p:sp>
        <p:nvSpPr>
          <p:cNvPr id="21" name="Text 19"/>
          <p:cNvSpPr/>
          <p:nvPr/>
        </p:nvSpPr>
        <p:spPr>
          <a:xfrm>
            <a:off x="10030968" y="3161538"/>
            <a:ext cx="3858768" cy="1244727"/>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Owns the meanings of</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its operations and</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boundary keys.</a:t>
            </a:r>
            <a:endParaRPr lang="en-US" sz="2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AUTHORITY</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Permission names the operation</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What can be done—not who can do it or how far it reaches.</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One endpoint requires one permission. One grant may contain many.</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07</a:t>
            </a:r>
            <a:endParaRPr lang="en-US" sz="1400" dirty="0"/>
          </a:p>
        </p:txBody>
      </p:sp>
      <p:sp>
        <p:nvSpPr>
          <p:cNvPr id="10" name="Text 8"/>
          <p:cNvSpPr/>
          <p:nvPr/>
        </p:nvSpPr>
        <p:spPr>
          <a:xfrm>
            <a:off x="658368" y="2404872"/>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Namespace</a:t>
            </a:r>
            <a:endParaRPr lang="en-US" sz="2200" dirty="0"/>
          </a:p>
        </p:txBody>
      </p:sp>
      <p:sp>
        <p:nvSpPr>
          <p:cNvPr id="11" name="Text 9"/>
          <p:cNvSpPr/>
          <p:nvPr/>
        </p:nvSpPr>
        <p:spPr>
          <a:xfrm>
            <a:off x="658368" y="2867406"/>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Application, domain and optional</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deeper nouns.</a:t>
            </a:r>
            <a:endParaRPr lang="en-US" sz="2200" dirty="0"/>
          </a:p>
        </p:txBody>
      </p:sp>
      <p:sp>
        <p:nvSpPr>
          <p:cNvPr id="12" name="Text 10"/>
          <p:cNvSpPr/>
          <p:nvPr/>
        </p:nvSpPr>
        <p:spPr>
          <a:xfrm>
            <a:off x="658368" y="3920490"/>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Verb</a:t>
            </a:r>
            <a:endParaRPr lang="en-US" sz="2200" dirty="0"/>
          </a:p>
        </p:txBody>
      </p:sp>
      <p:sp>
        <p:nvSpPr>
          <p:cNvPr id="13" name="Text 11"/>
          <p:cNvSpPr/>
          <p:nvPr/>
        </p:nvSpPr>
        <p:spPr>
          <a:xfrm>
            <a:off x="658368" y="4383024"/>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operation after the double</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colon.</a:t>
            </a:r>
            <a:endParaRPr lang="en-US" sz="2200" dirty="0"/>
          </a:p>
        </p:txBody>
      </p:sp>
      <p:sp>
        <p:nvSpPr>
          <p:cNvPr id="14" name="Text 12"/>
          <p:cNvSpPr/>
          <p:nvPr/>
        </p:nvSpPr>
        <p:spPr>
          <a:xfrm>
            <a:off x="658368" y="5436108"/>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No inference</a:t>
            </a:r>
            <a:endParaRPr lang="en-US" sz="2200" dirty="0"/>
          </a:p>
        </p:txBody>
      </p:sp>
      <p:sp>
        <p:nvSpPr>
          <p:cNvPr id="15" name="Text 13"/>
          <p:cNvSpPr/>
          <p:nvPr/>
        </p:nvSpPr>
        <p:spPr>
          <a:xfrm>
            <a:off x="658368" y="5898642"/>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No prefix inheritance, alias or</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wildcard access.</a:t>
            </a:r>
            <a:endParaRPr lang="en-US" sz="2200" dirty="0"/>
          </a:p>
        </p:txBody>
      </p:sp>
      <p:sp>
        <p:nvSpPr>
          <p:cNvPr id="16" name="Shape 14"/>
          <p:cNvSpPr/>
          <p:nvPr/>
        </p:nvSpPr>
        <p:spPr>
          <a:xfrm>
            <a:off x="5806440" y="2286000"/>
            <a:ext cx="8229600" cy="5029200"/>
          </a:xfrm>
          <a:prstGeom prst="roundRect">
            <a:avLst>
              <a:gd name="adj" fmla="val 2182"/>
            </a:avLst>
          </a:prstGeom>
          <a:solidFill>
            <a:srgbClr val="14263D"/>
          </a:solidFill>
          <a:ln w="8890">
            <a:solidFill>
              <a:srgbClr val="14263D"/>
            </a:solidFill>
            <a:prstDash val="solid"/>
          </a:ln>
        </p:spPr>
      </p:sp>
      <p:sp>
        <p:nvSpPr>
          <p:cNvPr id="17" name="Text 15"/>
          <p:cNvSpPr/>
          <p:nvPr/>
        </p:nvSpPr>
        <p:spPr>
          <a:xfrm>
            <a:off x="6062472" y="246888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NESTED permissions ARRAY · NOT A GRANT</a:t>
            </a:r>
            <a:endParaRPr lang="en-US" sz="1100" dirty="0"/>
          </a:p>
        </p:txBody>
      </p:sp>
      <p:sp>
        <p:nvSpPr>
          <p:cNvPr id="18" name="Text 16"/>
          <p:cNvSpPr/>
          <p:nvPr/>
        </p:nvSpPr>
        <p:spPr>
          <a:xfrm>
            <a:off x="6062472" y="289864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9" name="Text 17"/>
          <p:cNvSpPr/>
          <p:nvPr/>
        </p:nvSpPr>
        <p:spPr>
          <a:xfrm>
            <a:off x="6062472" y="316382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"hrms:employee:certificate::read",</a:t>
            </a:r>
            <a:endParaRPr lang="en-US" sz="1700" dirty="0"/>
          </a:p>
        </p:txBody>
      </p:sp>
      <p:sp>
        <p:nvSpPr>
          <p:cNvPr id="20" name="Text 18"/>
          <p:cNvSpPr/>
          <p:nvPr/>
        </p:nvSpPr>
        <p:spPr>
          <a:xfrm>
            <a:off x="6062472" y="342900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"hrms:employee:certificate::write"</a:t>
            </a:r>
            <a:endParaRPr lang="en-US" sz="1700" dirty="0"/>
          </a:p>
        </p:txBody>
      </p:sp>
      <p:sp>
        <p:nvSpPr>
          <p:cNvPr id="21" name="Text 19"/>
          <p:cNvSpPr/>
          <p:nvPr/>
        </p:nvSpPr>
        <p:spPr>
          <a:xfrm>
            <a:off x="6062472" y="369417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AUTHORITY</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Scope selects the boundary</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The operation must stay inside every applicable constraint.</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This means Finance AND C17—not Finance OR C17.</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08</a:t>
            </a:r>
            <a:endParaRPr lang="en-US" sz="1400" dirty="0"/>
          </a:p>
        </p:txBody>
      </p:sp>
      <p:sp>
        <p:nvSpPr>
          <p:cNvPr id="10" name="Text 8"/>
          <p:cNvSpPr/>
          <p:nvPr/>
        </p:nvSpPr>
        <p:spPr>
          <a:xfrm>
            <a:off x="658368" y="2404872"/>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Keys</a:t>
            </a:r>
            <a:endParaRPr lang="en-US" sz="2200" dirty="0"/>
          </a:p>
        </p:txBody>
      </p:sp>
      <p:sp>
        <p:nvSpPr>
          <p:cNvPr id="11" name="Text 9"/>
          <p:cNvSpPr/>
          <p:nvPr/>
        </p:nvSpPr>
        <p:spPr>
          <a:xfrm>
            <a:off x="658368" y="2867406"/>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Application-registered boundary</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dimensions.</a:t>
            </a:r>
            <a:endParaRPr lang="en-US" sz="2200" dirty="0"/>
          </a:p>
        </p:txBody>
      </p:sp>
      <p:sp>
        <p:nvSpPr>
          <p:cNvPr id="12" name="Text 10"/>
          <p:cNvSpPr/>
          <p:nvPr/>
        </p:nvSpPr>
        <p:spPr>
          <a:xfrm>
            <a:off x="658368" y="3920490"/>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Values</a:t>
            </a:r>
            <a:endParaRPr lang="en-US" sz="2200" dirty="0"/>
          </a:p>
        </p:txBody>
      </p:sp>
      <p:sp>
        <p:nvSpPr>
          <p:cNvPr id="13" name="Text 11"/>
          <p:cNvSpPr/>
          <p:nvPr/>
        </p:nvSpPr>
        <p:spPr>
          <a:xfrm>
            <a:off x="658368" y="4383024"/>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Non-empty strings with</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application-defined meaning.</a:t>
            </a:r>
            <a:endParaRPr lang="en-US" sz="2200" dirty="0"/>
          </a:p>
        </p:txBody>
      </p:sp>
      <p:sp>
        <p:nvSpPr>
          <p:cNvPr id="14" name="Text 12"/>
          <p:cNvSpPr/>
          <p:nvPr/>
        </p:nvSpPr>
        <p:spPr>
          <a:xfrm>
            <a:off x="658368" y="5436108"/>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Combination</a:t>
            </a:r>
            <a:endParaRPr lang="en-US" sz="2200" dirty="0"/>
          </a:p>
        </p:txBody>
      </p:sp>
      <p:sp>
        <p:nvSpPr>
          <p:cNvPr id="15" name="Text 13"/>
          <p:cNvSpPr/>
          <p:nvPr/>
        </p:nvSpPr>
        <p:spPr>
          <a:xfrm>
            <a:off x="658368" y="5898642"/>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Entries within a scope combine</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with AND.</a:t>
            </a:r>
            <a:endParaRPr lang="en-US" sz="2200" dirty="0"/>
          </a:p>
        </p:txBody>
      </p:sp>
      <p:sp>
        <p:nvSpPr>
          <p:cNvPr id="16" name="Shape 14"/>
          <p:cNvSpPr/>
          <p:nvPr/>
        </p:nvSpPr>
        <p:spPr>
          <a:xfrm>
            <a:off x="5806440" y="2286000"/>
            <a:ext cx="8229600" cy="5029200"/>
          </a:xfrm>
          <a:prstGeom prst="roundRect">
            <a:avLst>
              <a:gd name="adj" fmla="val 2182"/>
            </a:avLst>
          </a:prstGeom>
          <a:solidFill>
            <a:srgbClr val="14263D"/>
          </a:solidFill>
          <a:ln w="8890">
            <a:solidFill>
              <a:srgbClr val="14263D"/>
            </a:solidFill>
            <a:prstDash val="solid"/>
          </a:ln>
        </p:spPr>
      </p:sp>
      <p:sp>
        <p:nvSpPr>
          <p:cNvPr id="17" name="Text 15"/>
          <p:cNvSpPr/>
          <p:nvPr/>
        </p:nvSpPr>
        <p:spPr>
          <a:xfrm>
            <a:off x="6062472" y="246888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NESTED scope VALUE · NOT A STANDALONE RECORD</a:t>
            </a:r>
            <a:endParaRPr lang="en-US" sz="1100" dirty="0"/>
          </a:p>
        </p:txBody>
      </p:sp>
      <p:sp>
        <p:nvSpPr>
          <p:cNvPr id="18" name="Text 16"/>
          <p:cNvSpPr/>
          <p:nvPr/>
        </p:nvSpPr>
        <p:spPr>
          <a:xfrm>
            <a:off x="6062472" y="289864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9" name="Text 17"/>
          <p:cNvSpPr/>
          <p:nvPr/>
        </p:nvSpPr>
        <p:spPr>
          <a:xfrm>
            <a:off x="6062472" y="316382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"dept": "FIN",</a:t>
            </a:r>
            <a:endParaRPr lang="en-US" sz="1700" dirty="0"/>
          </a:p>
        </p:txBody>
      </p:sp>
      <p:sp>
        <p:nvSpPr>
          <p:cNvPr id="20" name="Text 18"/>
          <p:cNvSpPr/>
          <p:nvPr/>
        </p:nvSpPr>
        <p:spPr>
          <a:xfrm>
            <a:off x="6062472" y="342900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"cert": "C17"</a:t>
            </a:r>
            <a:endParaRPr lang="en-US" sz="1700" dirty="0"/>
          </a:p>
        </p:txBody>
      </p:sp>
      <p:sp>
        <p:nvSpPr>
          <p:cNvPr id="21" name="Text 19"/>
          <p:cNvSpPr/>
          <p:nvPr/>
        </p:nvSpPr>
        <p:spPr>
          <a:xfrm>
            <a:off x="6062472" y="369417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AUTHORITY</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$self means the authorizing human</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A group can receive self-scoped authority without becoming “self”.</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Runtime self is settled; cross-recipient issuance needs separate validation.</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09</a:t>
            </a:r>
            <a:endParaRPr lang="en-US" sz="1400" dirty="0"/>
          </a:p>
        </p:txBody>
      </p:sp>
      <p:sp>
        <p:nvSpPr>
          <p:cNvPr id="10" name="Text 8"/>
          <p:cNvSpPr/>
          <p:nvPr/>
        </p:nvSpPr>
        <p:spPr>
          <a:xfrm>
            <a:off x="658368" y="2404872"/>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Group recipient</a:t>
            </a:r>
            <a:endParaRPr lang="en-US" sz="2200" dirty="0"/>
          </a:p>
        </p:txBody>
      </p:sp>
      <p:sp>
        <p:nvSpPr>
          <p:cNvPr id="11" name="Text 9"/>
          <p:cNvSpPr/>
          <p:nvPr/>
        </p:nvSpPr>
        <p:spPr>
          <a:xfrm>
            <a:off x="658368" y="2867406"/>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Employees receives the grant</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through an assignment.</a:t>
            </a:r>
            <a:endParaRPr lang="en-US" sz="2200" dirty="0"/>
          </a:p>
        </p:txBody>
      </p:sp>
      <p:sp>
        <p:nvSpPr>
          <p:cNvPr id="12" name="Text 10"/>
          <p:cNvSpPr/>
          <p:nvPr/>
        </p:nvSpPr>
        <p:spPr>
          <a:xfrm>
            <a:off x="658368" y="3920490"/>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Vinay’s request</a:t>
            </a:r>
            <a:endParaRPr lang="en-US" sz="2200" dirty="0"/>
          </a:p>
        </p:txBody>
      </p:sp>
      <p:sp>
        <p:nvSpPr>
          <p:cNvPr id="13" name="Text 11"/>
          <p:cNvSpPr/>
          <p:nvPr/>
        </p:nvSpPr>
        <p:spPr>
          <a:xfrm>
            <a:off x="658368" y="4383024"/>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Self means Vinay, not Employees</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or its owner.</a:t>
            </a:r>
            <a:endParaRPr lang="en-US" sz="2200" dirty="0"/>
          </a:p>
        </p:txBody>
      </p:sp>
      <p:sp>
        <p:nvSpPr>
          <p:cNvPr id="14" name="Text 12"/>
          <p:cNvSpPr/>
          <p:nvPr/>
        </p:nvSpPr>
        <p:spPr>
          <a:xfrm>
            <a:off x="658368" y="5436108"/>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Vinay’s agent</a:t>
            </a:r>
            <a:endParaRPr lang="en-US" sz="2200" dirty="0"/>
          </a:p>
        </p:txBody>
      </p:sp>
      <p:sp>
        <p:nvSpPr>
          <p:cNvPr id="15" name="Text 13"/>
          <p:cNvSpPr/>
          <p:nvPr/>
        </p:nvSpPr>
        <p:spPr>
          <a:xfrm>
            <a:off x="658368" y="5898642"/>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Self remains Vinay, with</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delegation limits.</a:t>
            </a:r>
            <a:endParaRPr lang="en-US" sz="2200" dirty="0"/>
          </a:p>
        </p:txBody>
      </p:sp>
      <p:sp>
        <p:nvSpPr>
          <p:cNvPr id="16" name="Shape 14"/>
          <p:cNvSpPr/>
          <p:nvPr/>
        </p:nvSpPr>
        <p:spPr>
          <a:xfrm>
            <a:off x="5806440" y="2286000"/>
            <a:ext cx="8229600" cy="5029200"/>
          </a:xfrm>
          <a:prstGeom prst="roundRect">
            <a:avLst>
              <a:gd name="adj" fmla="val 2182"/>
            </a:avLst>
          </a:prstGeom>
          <a:solidFill>
            <a:srgbClr val="14263D"/>
          </a:solidFill>
          <a:ln w="8890">
            <a:solidFill>
              <a:srgbClr val="14263D"/>
            </a:solidFill>
            <a:prstDash val="solid"/>
          </a:ln>
        </p:spPr>
      </p:sp>
      <p:sp>
        <p:nvSpPr>
          <p:cNvPr id="17" name="Text 15"/>
          <p:cNvSpPr/>
          <p:nvPr/>
        </p:nvSpPr>
        <p:spPr>
          <a:xfrm>
            <a:off x="6062472" y="246888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NESTED scope VALUE · REGISTERED SELF RELATIONSHIP</a:t>
            </a:r>
            <a:endParaRPr lang="en-US" sz="1100" dirty="0"/>
          </a:p>
        </p:txBody>
      </p:sp>
      <p:sp>
        <p:nvSpPr>
          <p:cNvPr id="18" name="Text 16"/>
          <p:cNvSpPr/>
          <p:nvPr/>
        </p:nvSpPr>
        <p:spPr>
          <a:xfrm>
            <a:off x="6062472" y="289864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9" name="Text 17"/>
          <p:cNvSpPr/>
          <p:nvPr/>
        </p:nvSpPr>
        <p:spPr>
          <a:xfrm>
            <a:off x="6062472" y="316382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"user": "$self"</a:t>
            </a:r>
            <a:endParaRPr lang="en-US" sz="1700" dirty="0"/>
          </a:p>
        </p:txBody>
      </p:sp>
      <p:sp>
        <p:nvSpPr>
          <p:cNvPr id="20" name="Text 18"/>
          <p:cNvSpPr/>
          <p:nvPr/>
        </p:nvSpPr>
        <p:spPr>
          <a:xfrm>
            <a:off x="6062472" y="342900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ROLE · GRANT · ASSIGNMENT</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Three concepts—not three names for access</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Keep the permission bundle, bounded authority and recipient separate.</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Roles are optional. A grant may list permissions directly.</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10</a:t>
            </a:r>
            <a:endParaRPr lang="en-US" sz="1400" dirty="0"/>
          </a:p>
        </p:txBody>
      </p:sp>
      <p:sp>
        <p:nvSpPr>
          <p:cNvPr id="10" name="Shape 8"/>
          <p:cNvSpPr/>
          <p:nvPr/>
        </p:nvSpPr>
        <p:spPr>
          <a:xfrm>
            <a:off x="658368" y="2468880"/>
            <a:ext cx="4315968" cy="4133088"/>
          </a:xfrm>
          <a:prstGeom prst="roundRect">
            <a:avLst>
              <a:gd name="adj" fmla="val 2655"/>
            </a:avLst>
          </a:prstGeom>
          <a:solidFill>
            <a:srgbClr val="FFFFFF"/>
          </a:solidFill>
          <a:ln w="8890">
            <a:solidFill>
              <a:srgbClr val="CCD7E2"/>
            </a:solidFill>
            <a:prstDash val="solid"/>
          </a:ln>
        </p:spPr>
      </p:sp>
      <p:sp>
        <p:nvSpPr>
          <p:cNvPr id="11" name="Shape 9"/>
          <p:cNvSpPr/>
          <p:nvPr/>
        </p:nvSpPr>
        <p:spPr>
          <a:xfrm>
            <a:off x="658368" y="2468880"/>
            <a:ext cx="50292" cy="4133088"/>
          </a:xfrm>
          <a:prstGeom prst="rect">
            <a:avLst/>
          </a:prstGeom>
          <a:solidFill>
            <a:srgbClr val="087E8B"/>
          </a:solidFill>
          <a:ln w="8890">
            <a:solidFill>
              <a:srgbClr val="087E8B"/>
            </a:solidFill>
            <a:prstDash val="solid"/>
          </a:ln>
        </p:spPr>
      </p:sp>
      <p:sp>
        <p:nvSpPr>
          <p:cNvPr id="12" name="Text 10"/>
          <p:cNvSpPr/>
          <p:nvPr/>
        </p:nvSpPr>
        <p:spPr>
          <a:xfrm>
            <a:off x="886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ROLE</a:t>
            </a:r>
            <a:endParaRPr lang="en-US" sz="1800" dirty="0"/>
          </a:p>
        </p:txBody>
      </p:sp>
      <p:sp>
        <p:nvSpPr>
          <p:cNvPr id="13" name="Text 11"/>
          <p:cNvSpPr/>
          <p:nvPr/>
        </p:nvSpPr>
        <p:spPr>
          <a:xfrm>
            <a:off x="886968" y="3161538"/>
            <a:ext cx="3858768" cy="1635252"/>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A reusable bundle of</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permissions.</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Example: certificate</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read + write.</a:t>
            </a:r>
            <a:endParaRPr lang="en-US" sz="2500" dirty="0"/>
          </a:p>
        </p:txBody>
      </p:sp>
      <p:sp>
        <p:nvSpPr>
          <p:cNvPr id="14" name="Shape 12"/>
          <p:cNvSpPr/>
          <p:nvPr/>
        </p:nvSpPr>
        <p:spPr>
          <a:xfrm>
            <a:off x="5230368" y="2468880"/>
            <a:ext cx="4315968" cy="4133088"/>
          </a:xfrm>
          <a:prstGeom prst="roundRect">
            <a:avLst>
              <a:gd name="adj" fmla="val 2655"/>
            </a:avLst>
          </a:prstGeom>
          <a:solidFill>
            <a:srgbClr val="FFFFFF"/>
          </a:solidFill>
          <a:ln w="8890">
            <a:solidFill>
              <a:srgbClr val="CCD7E2"/>
            </a:solidFill>
            <a:prstDash val="solid"/>
          </a:ln>
        </p:spPr>
      </p:sp>
      <p:sp>
        <p:nvSpPr>
          <p:cNvPr id="15" name="Shape 13"/>
          <p:cNvSpPr/>
          <p:nvPr/>
        </p:nvSpPr>
        <p:spPr>
          <a:xfrm>
            <a:off x="5230368" y="2468880"/>
            <a:ext cx="50292" cy="4133088"/>
          </a:xfrm>
          <a:prstGeom prst="rect">
            <a:avLst/>
          </a:prstGeom>
          <a:solidFill>
            <a:srgbClr val="087E8B"/>
          </a:solidFill>
          <a:ln w="8890">
            <a:solidFill>
              <a:srgbClr val="087E8B"/>
            </a:solidFill>
            <a:prstDash val="solid"/>
          </a:ln>
        </p:spPr>
      </p:sp>
      <p:sp>
        <p:nvSpPr>
          <p:cNvPr id="16" name="Text 14"/>
          <p:cNvSpPr/>
          <p:nvPr/>
        </p:nvSpPr>
        <p:spPr>
          <a:xfrm>
            <a:off x="5458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GRANT</a:t>
            </a:r>
            <a:endParaRPr lang="en-US" sz="1800" dirty="0"/>
          </a:p>
        </p:txBody>
      </p:sp>
      <p:sp>
        <p:nvSpPr>
          <p:cNvPr id="17" name="Text 15"/>
          <p:cNvSpPr/>
          <p:nvPr/>
        </p:nvSpPr>
        <p:spPr>
          <a:xfrm>
            <a:off x="5458968" y="3161538"/>
            <a:ext cx="3858768" cy="2025777"/>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Permissions, scope and</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required support.</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Example: editor</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authority within</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Finance.</a:t>
            </a:r>
            <a:endParaRPr lang="en-US" sz="2500" dirty="0"/>
          </a:p>
        </p:txBody>
      </p:sp>
      <p:sp>
        <p:nvSpPr>
          <p:cNvPr id="18" name="Shape 16"/>
          <p:cNvSpPr/>
          <p:nvPr/>
        </p:nvSpPr>
        <p:spPr>
          <a:xfrm>
            <a:off x="9802368" y="2468880"/>
            <a:ext cx="4315968" cy="4133088"/>
          </a:xfrm>
          <a:prstGeom prst="roundRect">
            <a:avLst>
              <a:gd name="adj" fmla="val 2655"/>
            </a:avLst>
          </a:prstGeom>
          <a:solidFill>
            <a:srgbClr val="FFFFFF"/>
          </a:solidFill>
          <a:ln w="8890">
            <a:solidFill>
              <a:srgbClr val="CCD7E2"/>
            </a:solidFill>
            <a:prstDash val="solid"/>
          </a:ln>
        </p:spPr>
      </p:sp>
      <p:sp>
        <p:nvSpPr>
          <p:cNvPr id="19" name="Shape 17"/>
          <p:cNvSpPr/>
          <p:nvPr/>
        </p:nvSpPr>
        <p:spPr>
          <a:xfrm>
            <a:off x="9802368" y="2468880"/>
            <a:ext cx="50292" cy="4133088"/>
          </a:xfrm>
          <a:prstGeom prst="rect">
            <a:avLst/>
          </a:prstGeom>
          <a:solidFill>
            <a:srgbClr val="087E8B"/>
          </a:solidFill>
          <a:ln w="8890">
            <a:solidFill>
              <a:srgbClr val="087E8B"/>
            </a:solidFill>
            <a:prstDash val="solid"/>
          </a:ln>
        </p:spPr>
      </p:sp>
      <p:sp>
        <p:nvSpPr>
          <p:cNvPr id="20" name="Text 18"/>
          <p:cNvSpPr/>
          <p:nvPr/>
        </p:nvSpPr>
        <p:spPr>
          <a:xfrm>
            <a:off x="10030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ASSIGNMENT</a:t>
            </a:r>
            <a:endParaRPr lang="en-US" sz="1800" dirty="0"/>
          </a:p>
        </p:txBody>
      </p:sp>
      <p:sp>
        <p:nvSpPr>
          <p:cNvPr id="21" name="Text 19"/>
          <p:cNvSpPr/>
          <p:nvPr/>
        </p:nvSpPr>
        <p:spPr>
          <a:xfrm>
            <a:off x="10030968" y="3161538"/>
            <a:ext cx="3858768" cy="1635252"/>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Connects a grant to a</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recipient.</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Example: Team1 receives</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G1.</a:t>
            </a:r>
            <a:endParaRPr lang="en-US" sz="2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GRANT</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A grant defines bounded authority</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Finance certificate read/write, dependent on valid G0 support.</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No recipient belongs on the reusable grant.</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11</a:t>
            </a:r>
            <a:endParaRPr lang="en-US" sz="1400" dirty="0"/>
          </a:p>
        </p:txBody>
      </p:sp>
      <p:sp>
        <p:nvSpPr>
          <p:cNvPr id="10" name="Text 8"/>
          <p:cNvSpPr/>
          <p:nvPr/>
        </p:nvSpPr>
        <p:spPr>
          <a:xfrm>
            <a:off x="658368" y="2404872"/>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permissions</a:t>
            </a:r>
            <a:endParaRPr lang="en-US" sz="2200" dirty="0"/>
          </a:p>
        </p:txBody>
      </p:sp>
      <p:sp>
        <p:nvSpPr>
          <p:cNvPr id="11" name="Text 9"/>
          <p:cNvSpPr/>
          <p:nvPr/>
        </p:nvSpPr>
        <p:spPr>
          <a:xfrm>
            <a:off x="658368" y="2867406"/>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operations selected from</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supported authority.</a:t>
            </a:r>
            <a:endParaRPr lang="en-US" sz="2200" dirty="0"/>
          </a:p>
        </p:txBody>
      </p:sp>
      <p:sp>
        <p:nvSpPr>
          <p:cNvPr id="12" name="Text 10"/>
          <p:cNvSpPr/>
          <p:nvPr/>
        </p:nvSpPr>
        <p:spPr>
          <a:xfrm>
            <a:off x="658368" y="3920490"/>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scope</a:t>
            </a:r>
            <a:endParaRPr lang="en-US" sz="2200" dirty="0"/>
          </a:p>
        </p:txBody>
      </p:sp>
      <p:sp>
        <p:nvSpPr>
          <p:cNvPr id="13" name="Text 11"/>
          <p:cNvSpPr/>
          <p:nvPr/>
        </p:nvSpPr>
        <p:spPr>
          <a:xfrm>
            <a:off x="658368" y="4383024"/>
            <a:ext cx="4681728" cy="416814"/>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local Finance boundary.</a:t>
            </a:r>
            <a:endParaRPr lang="en-US" sz="2200" dirty="0"/>
          </a:p>
        </p:txBody>
      </p:sp>
      <p:sp>
        <p:nvSpPr>
          <p:cNvPr id="14" name="Text 12"/>
          <p:cNvSpPr/>
          <p:nvPr/>
        </p:nvSpPr>
        <p:spPr>
          <a:xfrm>
            <a:off x="658368" y="5092446"/>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parent_grant_id</a:t>
            </a:r>
            <a:endParaRPr lang="en-US" sz="2200" dirty="0"/>
          </a:p>
        </p:txBody>
      </p:sp>
      <p:sp>
        <p:nvSpPr>
          <p:cNvPr id="15" name="Text 13"/>
          <p:cNvSpPr/>
          <p:nvPr/>
        </p:nvSpPr>
        <p:spPr>
          <a:xfrm>
            <a:off x="658368" y="5554980"/>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required upstream grant—not</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proof of support.</a:t>
            </a:r>
            <a:endParaRPr lang="en-US" sz="2200" dirty="0"/>
          </a:p>
        </p:txBody>
      </p:sp>
      <p:sp>
        <p:nvSpPr>
          <p:cNvPr id="16" name="Shape 14"/>
          <p:cNvSpPr/>
          <p:nvPr/>
        </p:nvSpPr>
        <p:spPr>
          <a:xfrm>
            <a:off x="5806440" y="2286000"/>
            <a:ext cx="8229600" cy="5029200"/>
          </a:xfrm>
          <a:prstGeom prst="roundRect">
            <a:avLst>
              <a:gd name="adj" fmla="val 2182"/>
            </a:avLst>
          </a:prstGeom>
          <a:solidFill>
            <a:srgbClr val="14263D"/>
          </a:solidFill>
          <a:ln w="8890">
            <a:solidFill>
              <a:srgbClr val="14263D"/>
            </a:solidFill>
            <a:prstDash val="solid"/>
          </a:ln>
        </p:spPr>
      </p:sp>
      <p:sp>
        <p:nvSpPr>
          <p:cNvPr id="17" name="Text 15"/>
          <p:cNvSpPr/>
          <p:nvPr/>
        </p:nvSpPr>
        <p:spPr>
          <a:xfrm>
            <a:off x="6062472" y="246888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APPROVED GRANT-CONTENT SHAPE · REVISION FIELDS MUTED</a:t>
            </a:r>
            <a:endParaRPr lang="en-US" sz="1100" dirty="0"/>
          </a:p>
        </p:txBody>
      </p:sp>
      <p:sp>
        <p:nvSpPr>
          <p:cNvPr id="18" name="Text 16"/>
          <p:cNvSpPr/>
          <p:nvPr/>
        </p:nvSpPr>
        <p:spPr>
          <a:xfrm>
            <a:off x="6062472" y="289864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9" name="Text 17"/>
          <p:cNvSpPr/>
          <p:nvPr/>
        </p:nvSpPr>
        <p:spPr>
          <a:xfrm>
            <a:off x="6062472" y="316382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0" name="Text 18"/>
          <p:cNvSpPr/>
          <p:nvPr/>
        </p:nvSpPr>
        <p:spPr>
          <a:xfrm>
            <a:off x="6062472" y="342900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"grant_id": "G1",</a:t>
            </a:r>
            <a:endParaRPr lang="en-US" sz="1700" dirty="0"/>
          </a:p>
        </p:txBody>
      </p:sp>
      <p:sp>
        <p:nvSpPr>
          <p:cNvPr id="21" name="Text 19"/>
          <p:cNvSpPr/>
          <p:nvPr/>
        </p:nvSpPr>
        <p:spPr>
          <a:xfrm>
            <a:off x="6062472" y="369417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A3B2C3"/>
                </a:solidFill>
                <a:latin typeface="Courier New" pitchFamily="34" charset="0"/>
                <a:ea typeface="Courier New" pitchFamily="34" charset="-122"/>
                <a:cs typeface="Courier New" pitchFamily="34" charset="-120"/>
              </a:rPr>
              <a:t>  "revision": 2,</a:t>
            </a:r>
            <a:endParaRPr lang="en-US" sz="1700" dirty="0"/>
          </a:p>
        </p:txBody>
      </p:sp>
      <p:sp>
        <p:nvSpPr>
          <p:cNvPr id="22" name="Text 20"/>
          <p:cNvSpPr/>
          <p:nvPr/>
        </p:nvSpPr>
        <p:spPr>
          <a:xfrm>
            <a:off x="6062472" y="395935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"parent_grant_id": "G0",</a:t>
            </a:r>
            <a:endParaRPr lang="en-US" sz="1700" dirty="0"/>
          </a:p>
        </p:txBody>
      </p:sp>
      <p:sp>
        <p:nvSpPr>
          <p:cNvPr id="23" name="Text 21"/>
          <p:cNvSpPr/>
          <p:nvPr/>
        </p:nvSpPr>
        <p:spPr>
          <a:xfrm>
            <a:off x="6062472" y="422452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"permissions": [</a:t>
            </a:r>
            <a:endParaRPr lang="en-US" sz="1700" dirty="0"/>
          </a:p>
        </p:txBody>
      </p:sp>
      <p:sp>
        <p:nvSpPr>
          <p:cNvPr id="24" name="Text 22"/>
          <p:cNvSpPr/>
          <p:nvPr/>
        </p:nvSpPr>
        <p:spPr>
          <a:xfrm>
            <a:off x="6062472" y="448970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"hrms:employee:certificate::read",</a:t>
            </a:r>
            <a:endParaRPr lang="en-US" sz="1700" dirty="0"/>
          </a:p>
        </p:txBody>
      </p:sp>
      <p:sp>
        <p:nvSpPr>
          <p:cNvPr id="25" name="Text 23"/>
          <p:cNvSpPr/>
          <p:nvPr/>
        </p:nvSpPr>
        <p:spPr>
          <a:xfrm>
            <a:off x="6062472" y="475488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"hrms:employee:certificate::write"</a:t>
            </a:r>
            <a:endParaRPr lang="en-US" sz="1700" dirty="0"/>
          </a:p>
        </p:txBody>
      </p:sp>
      <p:sp>
        <p:nvSpPr>
          <p:cNvPr id="26" name="Text 24"/>
          <p:cNvSpPr/>
          <p:nvPr/>
        </p:nvSpPr>
        <p:spPr>
          <a:xfrm>
            <a:off x="6062472" y="502005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a:t>
            </a:r>
            <a:endParaRPr lang="en-US" sz="1700" dirty="0"/>
          </a:p>
        </p:txBody>
      </p:sp>
      <p:sp>
        <p:nvSpPr>
          <p:cNvPr id="27" name="Text 25"/>
          <p:cNvSpPr/>
          <p:nvPr/>
        </p:nvSpPr>
        <p:spPr>
          <a:xfrm>
            <a:off x="6062472" y="528523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"scope": {"dept": "FIN"}</a:t>
            </a:r>
            <a:endParaRPr lang="en-US" sz="1700" dirty="0"/>
          </a:p>
        </p:txBody>
      </p:sp>
      <p:sp>
        <p:nvSpPr>
          <p:cNvPr id="28" name="Text 26"/>
          <p:cNvSpPr/>
          <p:nvPr/>
        </p:nvSpPr>
        <p:spPr>
          <a:xfrm>
            <a:off x="6062472" y="555040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ROLE</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A grant can use a role instead</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The role supplies the permission bundle; the grant supplies its boundary.</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A role is not a team, an assignment or an unrestricted grant.</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12</a:t>
            </a:r>
            <a:endParaRPr lang="en-US" sz="1400" dirty="0"/>
          </a:p>
        </p:txBody>
      </p:sp>
      <p:sp>
        <p:nvSpPr>
          <p:cNvPr id="10" name="Text 8"/>
          <p:cNvSpPr/>
          <p:nvPr/>
        </p:nvSpPr>
        <p:spPr>
          <a:xfrm>
            <a:off x="658368" y="2404872"/>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role_id</a:t>
            </a:r>
            <a:endParaRPr lang="en-US" sz="2200" dirty="0"/>
          </a:p>
        </p:txBody>
      </p:sp>
      <p:sp>
        <p:nvSpPr>
          <p:cNvPr id="11" name="Text 9"/>
          <p:cNvSpPr/>
          <p:nvPr/>
        </p:nvSpPr>
        <p:spPr>
          <a:xfrm>
            <a:off x="658368" y="2867406"/>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reusable bundle, here</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Certificate Reader.</a:t>
            </a:r>
            <a:endParaRPr lang="en-US" sz="2200" dirty="0"/>
          </a:p>
        </p:txBody>
      </p:sp>
      <p:sp>
        <p:nvSpPr>
          <p:cNvPr id="12" name="Text 10"/>
          <p:cNvSpPr/>
          <p:nvPr/>
        </p:nvSpPr>
        <p:spPr>
          <a:xfrm>
            <a:off x="658368" y="3920490"/>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scope</a:t>
            </a:r>
            <a:endParaRPr lang="en-US" sz="2200" dirty="0"/>
          </a:p>
        </p:txBody>
      </p:sp>
      <p:sp>
        <p:nvSpPr>
          <p:cNvPr id="13" name="Text 11"/>
          <p:cNvSpPr/>
          <p:nvPr/>
        </p:nvSpPr>
        <p:spPr>
          <a:xfrm>
            <a:off x="658368" y="4383024"/>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Finance remains a grant</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boundary.</a:t>
            </a:r>
            <a:endParaRPr lang="en-US" sz="2200" dirty="0"/>
          </a:p>
        </p:txBody>
      </p:sp>
      <p:sp>
        <p:nvSpPr>
          <p:cNvPr id="14" name="Text 12"/>
          <p:cNvSpPr/>
          <p:nvPr/>
        </p:nvSpPr>
        <p:spPr>
          <a:xfrm>
            <a:off x="658368" y="5436108"/>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Exclusive forms</a:t>
            </a:r>
            <a:endParaRPr lang="en-US" sz="2200" dirty="0"/>
          </a:p>
        </p:txBody>
      </p:sp>
      <p:sp>
        <p:nvSpPr>
          <p:cNvPr id="15" name="Text 13"/>
          <p:cNvSpPr/>
          <p:nvPr/>
        </p:nvSpPr>
        <p:spPr>
          <a:xfrm>
            <a:off x="658368" y="5898642"/>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Use permissions OR the complete</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role reference.</a:t>
            </a:r>
            <a:endParaRPr lang="en-US" sz="2200" dirty="0"/>
          </a:p>
        </p:txBody>
      </p:sp>
      <p:sp>
        <p:nvSpPr>
          <p:cNvPr id="16" name="Shape 14"/>
          <p:cNvSpPr/>
          <p:nvPr/>
        </p:nvSpPr>
        <p:spPr>
          <a:xfrm>
            <a:off x="5806440" y="2286000"/>
            <a:ext cx="8229600" cy="5029200"/>
          </a:xfrm>
          <a:prstGeom prst="roundRect">
            <a:avLst>
              <a:gd name="adj" fmla="val 2182"/>
            </a:avLst>
          </a:prstGeom>
          <a:solidFill>
            <a:srgbClr val="14263D"/>
          </a:solidFill>
          <a:ln w="8890">
            <a:solidFill>
              <a:srgbClr val="14263D"/>
            </a:solidFill>
            <a:prstDash val="solid"/>
          </a:ln>
        </p:spPr>
      </p:sp>
      <p:sp>
        <p:nvSpPr>
          <p:cNvPr id="17" name="Text 15"/>
          <p:cNvSpPr/>
          <p:nvPr/>
        </p:nvSpPr>
        <p:spPr>
          <a:xfrm>
            <a:off x="6062472" y="246888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APPROVED ROLE-REFERENCE GRANT SHAPE</a:t>
            </a:r>
            <a:endParaRPr lang="en-US" sz="1100" dirty="0"/>
          </a:p>
        </p:txBody>
      </p:sp>
      <p:sp>
        <p:nvSpPr>
          <p:cNvPr id="18" name="Text 16"/>
          <p:cNvSpPr/>
          <p:nvPr/>
        </p:nvSpPr>
        <p:spPr>
          <a:xfrm>
            <a:off x="6062472" y="289864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9" name="Text 17"/>
          <p:cNvSpPr/>
          <p:nvPr/>
        </p:nvSpPr>
        <p:spPr>
          <a:xfrm>
            <a:off x="6062472" y="316382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0" name="Text 18"/>
          <p:cNvSpPr/>
          <p:nvPr/>
        </p:nvSpPr>
        <p:spPr>
          <a:xfrm>
            <a:off x="6062472" y="342900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"grant_id": "G-ROLE-READER",</a:t>
            </a:r>
            <a:endParaRPr lang="en-US" sz="1700" dirty="0"/>
          </a:p>
        </p:txBody>
      </p:sp>
      <p:sp>
        <p:nvSpPr>
          <p:cNvPr id="21" name="Text 19"/>
          <p:cNvSpPr/>
          <p:nvPr/>
        </p:nvSpPr>
        <p:spPr>
          <a:xfrm>
            <a:off x="6062472" y="369417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A3B2C3"/>
                </a:solidFill>
                <a:latin typeface="Courier New" pitchFamily="34" charset="0"/>
                <a:ea typeface="Courier New" pitchFamily="34" charset="-122"/>
                <a:cs typeface="Courier New" pitchFamily="34" charset="-120"/>
              </a:rPr>
              <a:t>  "revision": 1,</a:t>
            </a:r>
            <a:endParaRPr lang="en-US" sz="1700" dirty="0"/>
          </a:p>
        </p:txBody>
      </p:sp>
      <p:sp>
        <p:nvSpPr>
          <p:cNvPr id="22" name="Text 20"/>
          <p:cNvSpPr/>
          <p:nvPr/>
        </p:nvSpPr>
        <p:spPr>
          <a:xfrm>
            <a:off x="6062472" y="395935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"parent_grant_id": "G0",</a:t>
            </a:r>
            <a:endParaRPr lang="en-US" sz="1700" dirty="0"/>
          </a:p>
        </p:txBody>
      </p:sp>
      <p:sp>
        <p:nvSpPr>
          <p:cNvPr id="23" name="Text 21"/>
          <p:cNvSpPr/>
          <p:nvPr/>
        </p:nvSpPr>
        <p:spPr>
          <a:xfrm>
            <a:off x="6062472" y="422452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"role_id": "R-CERTIFICATE-READER",</a:t>
            </a:r>
            <a:endParaRPr lang="en-US" sz="1700" dirty="0"/>
          </a:p>
        </p:txBody>
      </p:sp>
      <p:sp>
        <p:nvSpPr>
          <p:cNvPr id="24" name="Text 22"/>
          <p:cNvSpPr/>
          <p:nvPr/>
        </p:nvSpPr>
        <p:spPr>
          <a:xfrm>
            <a:off x="6062472" y="448970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A3B2C3"/>
                </a:solidFill>
                <a:latin typeface="Courier New" pitchFamily="34" charset="0"/>
                <a:ea typeface="Courier New" pitchFamily="34" charset="-122"/>
                <a:cs typeface="Courier New" pitchFamily="34" charset="-120"/>
              </a:rPr>
              <a:t>  "role_revision": 1,</a:t>
            </a:r>
            <a:endParaRPr lang="en-US" sz="1700" dirty="0"/>
          </a:p>
        </p:txBody>
      </p:sp>
      <p:sp>
        <p:nvSpPr>
          <p:cNvPr id="25" name="Text 23"/>
          <p:cNvSpPr/>
          <p:nvPr/>
        </p:nvSpPr>
        <p:spPr>
          <a:xfrm>
            <a:off x="6062472" y="475488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"scope": {"dept": "FIN"}</a:t>
            </a:r>
            <a:endParaRPr lang="en-US" sz="1700" dirty="0"/>
          </a:p>
        </p:txBody>
      </p:sp>
      <p:sp>
        <p:nvSpPr>
          <p:cNvPr id="26" name="Text 24"/>
          <p:cNvSpPr/>
          <p:nvPr/>
        </p:nvSpPr>
        <p:spPr>
          <a:xfrm>
            <a:off x="6062472" y="502005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ASSIGNMENT</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An assignment names the recipient</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Grant G1 is supplied to Team1 through A1.</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Creating a grant is not assigning it. Assigning it is not membership.</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13</a:t>
            </a:r>
            <a:endParaRPr lang="en-US" sz="1400" dirty="0"/>
          </a:p>
        </p:txBody>
      </p:sp>
      <p:sp>
        <p:nvSpPr>
          <p:cNvPr id="10" name="Text 8"/>
          <p:cNvSpPr/>
          <p:nvPr/>
        </p:nvSpPr>
        <p:spPr>
          <a:xfrm>
            <a:off x="658368" y="2404872"/>
            <a:ext cx="4681728" cy="352552"/>
          </a:xfrm>
          <a:prstGeom prst="rect">
            <a:avLst/>
          </a:prstGeom>
          <a:noFill/>
          <a:ln/>
        </p:spPr>
        <p:txBody>
          <a:bodyPr wrap="none" lIns="0" tIns="0" rIns="0" bIns="0" rtlCol="0" anchor="t"/>
          <a:lstStyle/>
          <a:p>
            <a:pPr algn="l" indent="0" marL="0">
              <a:lnSpc>
                <a:spcPct val="110000"/>
              </a:lnSpc>
              <a:buNone/>
            </a:pPr>
            <a:r>
              <a:rPr lang="en-US" sz="2000" b="1" dirty="0">
                <a:solidFill>
                  <a:srgbClr val="087E8B"/>
                </a:solidFill>
                <a:latin typeface="Arial" pitchFamily="34" charset="0"/>
                <a:ea typeface="Arial" pitchFamily="34" charset="-122"/>
                <a:cs typeface="Arial" pitchFamily="34" charset="-120"/>
              </a:rPr>
              <a:t>id</a:t>
            </a:r>
            <a:endParaRPr lang="en-US" sz="2000" dirty="0"/>
          </a:p>
        </p:txBody>
      </p:sp>
      <p:sp>
        <p:nvSpPr>
          <p:cNvPr id="11" name="Text 9"/>
          <p:cNvSpPr/>
          <p:nvPr/>
        </p:nvSpPr>
        <p:spPr>
          <a:xfrm>
            <a:off x="658368" y="2803144"/>
            <a:ext cx="4681728" cy="631952"/>
          </a:xfrm>
          <a:prstGeom prst="rect">
            <a:avLst/>
          </a:prstGeom>
          <a:noFill/>
          <a:ln/>
        </p:spPr>
        <p:txBody>
          <a:bodyPr wrap="none" lIns="0" tIns="0" rIns="0" bIns="0" rtlCol="0" anchor="t"/>
          <a:lstStyle/>
          <a:p>
            <a:pPr algn="l" indent="0" marL="0">
              <a:lnSpc>
                <a:spcPct val="110000"/>
              </a:lnSpc>
              <a:buNone/>
            </a:pPr>
            <a:r>
              <a:rPr lang="en-US" sz="2000" dirty="0">
                <a:solidFill>
                  <a:srgbClr val="14263D"/>
                </a:solidFill>
                <a:latin typeface="Arial" pitchFamily="34" charset="0"/>
                <a:ea typeface="Arial" pitchFamily="34" charset="-122"/>
                <a:cs typeface="Arial" pitchFamily="34" charset="-120"/>
              </a:rPr>
              <a:t>The assignment identity, not the</a:t>
            </a:r>
            <a:endParaRPr lang="en-US" sz="2000" dirty="0"/>
          </a:p>
          <a:p>
            <a:pPr algn="l" indent="0" marL="0">
              <a:lnSpc>
                <a:spcPct val="110000"/>
              </a:lnSpc>
              <a:buNone/>
            </a:pPr>
            <a:r>
              <a:rPr lang="en-US" sz="2000" dirty="0">
                <a:solidFill>
                  <a:srgbClr val="14263D"/>
                </a:solidFill>
                <a:latin typeface="Arial" pitchFamily="34" charset="0"/>
                <a:ea typeface="Arial" pitchFamily="34" charset="-122"/>
                <a:cs typeface="Arial" pitchFamily="34" charset="-120"/>
              </a:rPr>
              <a:t>grant ID.</a:t>
            </a:r>
            <a:endParaRPr lang="en-US" sz="2000" dirty="0"/>
          </a:p>
        </p:txBody>
      </p:sp>
      <p:sp>
        <p:nvSpPr>
          <p:cNvPr id="12" name="Text 10"/>
          <p:cNvSpPr/>
          <p:nvPr/>
        </p:nvSpPr>
        <p:spPr>
          <a:xfrm>
            <a:off x="658368" y="3572256"/>
            <a:ext cx="4681728" cy="352552"/>
          </a:xfrm>
          <a:prstGeom prst="rect">
            <a:avLst/>
          </a:prstGeom>
          <a:noFill/>
          <a:ln/>
        </p:spPr>
        <p:txBody>
          <a:bodyPr wrap="none" lIns="0" tIns="0" rIns="0" bIns="0" rtlCol="0" anchor="t"/>
          <a:lstStyle/>
          <a:p>
            <a:pPr algn="l" indent="0" marL="0">
              <a:lnSpc>
                <a:spcPct val="110000"/>
              </a:lnSpc>
              <a:buNone/>
            </a:pPr>
            <a:r>
              <a:rPr lang="en-US" sz="2000" b="1" dirty="0">
                <a:solidFill>
                  <a:srgbClr val="087E8B"/>
                </a:solidFill>
                <a:latin typeface="Arial" pitchFamily="34" charset="0"/>
                <a:ea typeface="Arial" pitchFamily="34" charset="-122"/>
                <a:cs typeface="Arial" pitchFamily="34" charset="-120"/>
              </a:rPr>
              <a:t>grant_id</a:t>
            </a:r>
            <a:endParaRPr lang="en-US" sz="2000" dirty="0"/>
          </a:p>
        </p:txBody>
      </p:sp>
      <p:sp>
        <p:nvSpPr>
          <p:cNvPr id="13" name="Text 11"/>
          <p:cNvSpPr/>
          <p:nvPr/>
        </p:nvSpPr>
        <p:spPr>
          <a:xfrm>
            <a:off x="658368" y="3970528"/>
            <a:ext cx="4681728" cy="352552"/>
          </a:xfrm>
          <a:prstGeom prst="rect">
            <a:avLst/>
          </a:prstGeom>
          <a:noFill/>
          <a:ln/>
        </p:spPr>
        <p:txBody>
          <a:bodyPr wrap="none" lIns="0" tIns="0" rIns="0" bIns="0" rtlCol="0" anchor="t"/>
          <a:lstStyle/>
          <a:p>
            <a:pPr algn="l" indent="0" marL="0">
              <a:lnSpc>
                <a:spcPct val="110000"/>
              </a:lnSpc>
              <a:buNone/>
            </a:pPr>
            <a:r>
              <a:rPr lang="en-US" sz="2000" dirty="0">
                <a:solidFill>
                  <a:srgbClr val="14263D"/>
                </a:solidFill>
                <a:latin typeface="Arial" pitchFamily="34" charset="0"/>
                <a:ea typeface="Arial" pitchFamily="34" charset="-122"/>
                <a:cs typeface="Arial" pitchFamily="34" charset="-120"/>
              </a:rPr>
              <a:t>Which reusable grant is assigned.</a:t>
            </a:r>
            <a:endParaRPr lang="en-US" sz="2000" dirty="0"/>
          </a:p>
        </p:txBody>
      </p:sp>
      <p:sp>
        <p:nvSpPr>
          <p:cNvPr id="14" name="Text 12"/>
          <p:cNvSpPr/>
          <p:nvPr/>
        </p:nvSpPr>
        <p:spPr>
          <a:xfrm>
            <a:off x="658368" y="4460240"/>
            <a:ext cx="4681728" cy="352552"/>
          </a:xfrm>
          <a:prstGeom prst="rect">
            <a:avLst/>
          </a:prstGeom>
          <a:noFill/>
          <a:ln/>
        </p:spPr>
        <p:txBody>
          <a:bodyPr wrap="none" lIns="0" tIns="0" rIns="0" bIns="0" rtlCol="0" anchor="t"/>
          <a:lstStyle/>
          <a:p>
            <a:pPr algn="l" indent="0" marL="0">
              <a:lnSpc>
                <a:spcPct val="110000"/>
              </a:lnSpc>
              <a:buNone/>
            </a:pPr>
            <a:r>
              <a:rPr lang="en-US" sz="2000" b="1" dirty="0">
                <a:solidFill>
                  <a:srgbClr val="087E8B"/>
                </a:solidFill>
                <a:latin typeface="Arial" pitchFamily="34" charset="0"/>
                <a:ea typeface="Arial" pitchFamily="34" charset="-122"/>
                <a:cs typeface="Arial" pitchFamily="34" charset="-120"/>
              </a:rPr>
              <a:t>recipient</a:t>
            </a:r>
            <a:endParaRPr lang="en-US" sz="2000" dirty="0"/>
          </a:p>
        </p:txBody>
      </p:sp>
      <p:sp>
        <p:nvSpPr>
          <p:cNvPr id="15" name="Text 13"/>
          <p:cNvSpPr/>
          <p:nvPr/>
        </p:nvSpPr>
        <p:spPr>
          <a:xfrm>
            <a:off x="658368" y="4858512"/>
            <a:ext cx="4681728" cy="352552"/>
          </a:xfrm>
          <a:prstGeom prst="rect">
            <a:avLst/>
          </a:prstGeom>
          <a:noFill/>
          <a:ln/>
        </p:spPr>
        <p:txBody>
          <a:bodyPr wrap="none" lIns="0" tIns="0" rIns="0" bIns="0" rtlCol="0" anchor="t"/>
          <a:lstStyle/>
          <a:p>
            <a:pPr algn="l" indent="0" marL="0">
              <a:lnSpc>
                <a:spcPct val="110000"/>
              </a:lnSpc>
              <a:buNone/>
            </a:pPr>
            <a:r>
              <a:rPr lang="en-US" sz="2000" dirty="0">
                <a:solidFill>
                  <a:srgbClr val="14263D"/>
                </a:solidFill>
                <a:latin typeface="Arial" pitchFamily="34" charset="0"/>
                <a:ea typeface="Arial" pitchFamily="34" charset="-122"/>
                <a:cs typeface="Arial" pitchFamily="34" charset="-120"/>
              </a:rPr>
              <a:t>Who receives it: a human or group.</a:t>
            </a:r>
            <a:endParaRPr lang="en-US" sz="2000" dirty="0"/>
          </a:p>
        </p:txBody>
      </p:sp>
      <p:sp>
        <p:nvSpPr>
          <p:cNvPr id="16" name="Text 14"/>
          <p:cNvSpPr/>
          <p:nvPr/>
        </p:nvSpPr>
        <p:spPr>
          <a:xfrm>
            <a:off x="658368" y="5348224"/>
            <a:ext cx="4681728" cy="352552"/>
          </a:xfrm>
          <a:prstGeom prst="rect">
            <a:avLst/>
          </a:prstGeom>
          <a:noFill/>
          <a:ln/>
        </p:spPr>
        <p:txBody>
          <a:bodyPr wrap="none" lIns="0" tIns="0" rIns="0" bIns="0" rtlCol="0" anchor="t"/>
          <a:lstStyle/>
          <a:p>
            <a:pPr algn="l" indent="0" marL="0">
              <a:lnSpc>
                <a:spcPct val="110000"/>
              </a:lnSpc>
              <a:buNone/>
            </a:pPr>
            <a:r>
              <a:rPr lang="en-US" sz="2000" b="1" dirty="0">
                <a:solidFill>
                  <a:srgbClr val="087E8B"/>
                </a:solidFill>
                <a:latin typeface="Arial" pitchFamily="34" charset="0"/>
                <a:ea typeface="Arial" pitchFamily="34" charset="-122"/>
                <a:cs typeface="Arial" pitchFamily="34" charset="-120"/>
              </a:rPr>
              <a:t>status</a:t>
            </a:r>
            <a:endParaRPr lang="en-US" sz="2000" dirty="0"/>
          </a:p>
        </p:txBody>
      </p:sp>
      <p:sp>
        <p:nvSpPr>
          <p:cNvPr id="17" name="Text 15"/>
          <p:cNvSpPr/>
          <p:nvPr/>
        </p:nvSpPr>
        <p:spPr>
          <a:xfrm>
            <a:off x="658368" y="5746496"/>
            <a:ext cx="4681728" cy="352552"/>
          </a:xfrm>
          <a:prstGeom prst="rect">
            <a:avLst/>
          </a:prstGeom>
          <a:noFill/>
          <a:ln/>
        </p:spPr>
        <p:txBody>
          <a:bodyPr wrap="none" lIns="0" tIns="0" rIns="0" bIns="0" rtlCol="0" anchor="t"/>
          <a:lstStyle/>
          <a:p>
            <a:pPr algn="l" indent="0" marL="0">
              <a:lnSpc>
                <a:spcPct val="110000"/>
              </a:lnSpc>
              <a:buNone/>
            </a:pPr>
            <a:r>
              <a:rPr lang="en-US" sz="2000" dirty="0">
                <a:solidFill>
                  <a:srgbClr val="14263D"/>
                </a:solidFill>
                <a:latin typeface="Arial" pitchFamily="34" charset="0"/>
                <a:ea typeface="Arial" pitchFamily="34" charset="-122"/>
                <a:cs typeface="Arial" pitchFamily="34" charset="-120"/>
              </a:rPr>
              <a:t>This assignment’s own live control.</a:t>
            </a:r>
            <a:endParaRPr lang="en-US" sz="2000" dirty="0"/>
          </a:p>
        </p:txBody>
      </p:sp>
      <p:sp>
        <p:nvSpPr>
          <p:cNvPr id="18" name="Shape 16"/>
          <p:cNvSpPr/>
          <p:nvPr/>
        </p:nvSpPr>
        <p:spPr>
          <a:xfrm>
            <a:off x="5806440" y="2286000"/>
            <a:ext cx="8229600" cy="5029200"/>
          </a:xfrm>
          <a:prstGeom prst="roundRect">
            <a:avLst>
              <a:gd name="adj" fmla="val 2182"/>
            </a:avLst>
          </a:prstGeom>
          <a:solidFill>
            <a:srgbClr val="14263D"/>
          </a:solidFill>
          <a:ln w="8890">
            <a:solidFill>
              <a:srgbClr val="14263D"/>
            </a:solidFill>
            <a:prstDash val="solid"/>
          </a:ln>
        </p:spPr>
      </p:sp>
      <p:sp>
        <p:nvSpPr>
          <p:cNvPr id="19" name="Text 17"/>
          <p:cNvSpPr/>
          <p:nvPr/>
        </p:nvSpPr>
        <p:spPr>
          <a:xfrm>
            <a:off x="6062472" y="246888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APPROVED ASSIGNMENT SHAPE</a:t>
            </a:r>
            <a:endParaRPr lang="en-US" sz="1100" dirty="0"/>
          </a:p>
        </p:txBody>
      </p:sp>
      <p:sp>
        <p:nvSpPr>
          <p:cNvPr id="20" name="Text 18"/>
          <p:cNvSpPr/>
          <p:nvPr/>
        </p:nvSpPr>
        <p:spPr>
          <a:xfrm>
            <a:off x="6062472" y="289864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21" name="Text 19"/>
          <p:cNvSpPr/>
          <p:nvPr/>
        </p:nvSpPr>
        <p:spPr>
          <a:xfrm>
            <a:off x="6062472" y="316382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2" name="Text 20"/>
          <p:cNvSpPr/>
          <p:nvPr/>
        </p:nvSpPr>
        <p:spPr>
          <a:xfrm>
            <a:off x="6062472" y="342900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"id": "A1",</a:t>
            </a:r>
            <a:endParaRPr lang="en-US" sz="1700" dirty="0"/>
          </a:p>
        </p:txBody>
      </p:sp>
      <p:sp>
        <p:nvSpPr>
          <p:cNvPr id="23" name="Text 21"/>
          <p:cNvSpPr/>
          <p:nvPr/>
        </p:nvSpPr>
        <p:spPr>
          <a:xfrm>
            <a:off x="6062472" y="369417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"grant_id": "G1",</a:t>
            </a:r>
            <a:endParaRPr lang="en-US" sz="1700" dirty="0"/>
          </a:p>
        </p:txBody>
      </p:sp>
      <p:sp>
        <p:nvSpPr>
          <p:cNvPr id="24" name="Text 22"/>
          <p:cNvSpPr/>
          <p:nvPr/>
        </p:nvSpPr>
        <p:spPr>
          <a:xfrm>
            <a:off x="6062472" y="395935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A3B2C3"/>
                </a:solidFill>
                <a:latin typeface="Courier New" pitchFamily="34" charset="0"/>
                <a:ea typeface="Courier New" pitchFamily="34" charset="-122"/>
                <a:cs typeface="Courier New" pitchFamily="34" charset="-120"/>
              </a:rPr>
              <a:t>  "grant_revision": 2,</a:t>
            </a:r>
            <a:endParaRPr lang="en-US" sz="1700" dirty="0"/>
          </a:p>
        </p:txBody>
      </p:sp>
      <p:sp>
        <p:nvSpPr>
          <p:cNvPr id="25" name="Text 23"/>
          <p:cNvSpPr/>
          <p:nvPr/>
        </p:nvSpPr>
        <p:spPr>
          <a:xfrm>
            <a:off x="6062472" y="422452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"recipient": {"type": "group", "id": "Team1"},</a:t>
            </a:r>
            <a:endParaRPr lang="en-US" sz="1700" dirty="0"/>
          </a:p>
        </p:txBody>
      </p:sp>
      <p:sp>
        <p:nvSpPr>
          <p:cNvPr id="26" name="Text 24"/>
          <p:cNvSpPr/>
          <p:nvPr/>
        </p:nvSpPr>
        <p:spPr>
          <a:xfrm>
            <a:off x="6062472" y="448970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"status": "enabled"</a:t>
            </a:r>
            <a:endParaRPr lang="en-US" sz="1700" dirty="0"/>
          </a:p>
        </p:txBody>
      </p:sp>
      <p:sp>
        <p:nvSpPr>
          <p:cNvPr id="27" name="Text 25"/>
          <p:cNvSpPr/>
          <p:nvPr/>
        </p:nvSpPr>
        <p:spPr>
          <a:xfrm>
            <a:off x="6062472" y="475488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TEAMS &amp; PEOPLE</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Membership is not ownership</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Team and group mean the same thing in our model.</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Team2 membership does not automatically create Team1 membership.</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14</a:t>
            </a:r>
            <a:endParaRPr lang="en-US" sz="1400" dirty="0"/>
          </a:p>
        </p:txBody>
      </p:sp>
      <p:sp>
        <p:nvSpPr>
          <p:cNvPr id="10" name="Shape 8"/>
          <p:cNvSpPr/>
          <p:nvPr/>
        </p:nvSpPr>
        <p:spPr>
          <a:xfrm>
            <a:off x="658368" y="2468880"/>
            <a:ext cx="4315968" cy="4133088"/>
          </a:xfrm>
          <a:prstGeom prst="roundRect">
            <a:avLst>
              <a:gd name="adj" fmla="val 2655"/>
            </a:avLst>
          </a:prstGeom>
          <a:solidFill>
            <a:srgbClr val="FFFFFF"/>
          </a:solidFill>
          <a:ln w="8890">
            <a:solidFill>
              <a:srgbClr val="CCD7E2"/>
            </a:solidFill>
            <a:prstDash val="solid"/>
          </a:ln>
        </p:spPr>
      </p:sp>
      <p:sp>
        <p:nvSpPr>
          <p:cNvPr id="11" name="Shape 9"/>
          <p:cNvSpPr/>
          <p:nvPr/>
        </p:nvSpPr>
        <p:spPr>
          <a:xfrm>
            <a:off x="658368" y="2468880"/>
            <a:ext cx="50292" cy="4133088"/>
          </a:xfrm>
          <a:prstGeom prst="rect">
            <a:avLst/>
          </a:prstGeom>
          <a:solidFill>
            <a:srgbClr val="087E8B"/>
          </a:solidFill>
          <a:ln w="8890">
            <a:solidFill>
              <a:srgbClr val="087E8B"/>
            </a:solidFill>
            <a:prstDash val="solid"/>
          </a:ln>
        </p:spPr>
      </p:sp>
      <p:sp>
        <p:nvSpPr>
          <p:cNvPr id="12" name="Text 10"/>
          <p:cNvSpPr/>
          <p:nvPr/>
        </p:nvSpPr>
        <p:spPr>
          <a:xfrm>
            <a:off x="886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MEMBERSHIP</a:t>
            </a:r>
            <a:endParaRPr lang="en-US" sz="1800" dirty="0"/>
          </a:p>
        </p:txBody>
      </p:sp>
      <p:sp>
        <p:nvSpPr>
          <p:cNvPr id="13" name="Text 11"/>
          <p:cNvSpPr/>
          <p:nvPr/>
        </p:nvSpPr>
        <p:spPr>
          <a:xfrm>
            <a:off x="886968" y="3161538"/>
            <a:ext cx="3858768" cy="2025777"/>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Nutan is a Team2</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member.</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She can use its</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effective assigned</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authority.</a:t>
            </a:r>
            <a:endParaRPr lang="en-US" sz="2500" dirty="0"/>
          </a:p>
        </p:txBody>
      </p:sp>
      <p:sp>
        <p:nvSpPr>
          <p:cNvPr id="14" name="Shape 12"/>
          <p:cNvSpPr/>
          <p:nvPr/>
        </p:nvSpPr>
        <p:spPr>
          <a:xfrm>
            <a:off x="5230368" y="2468880"/>
            <a:ext cx="4315968" cy="4133088"/>
          </a:xfrm>
          <a:prstGeom prst="roundRect">
            <a:avLst>
              <a:gd name="adj" fmla="val 2655"/>
            </a:avLst>
          </a:prstGeom>
          <a:solidFill>
            <a:srgbClr val="FFFFFF"/>
          </a:solidFill>
          <a:ln w="8890">
            <a:solidFill>
              <a:srgbClr val="CCD7E2"/>
            </a:solidFill>
            <a:prstDash val="solid"/>
          </a:ln>
        </p:spPr>
      </p:sp>
      <p:sp>
        <p:nvSpPr>
          <p:cNvPr id="15" name="Shape 13"/>
          <p:cNvSpPr/>
          <p:nvPr/>
        </p:nvSpPr>
        <p:spPr>
          <a:xfrm>
            <a:off x="5230368" y="2468880"/>
            <a:ext cx="50292" cy="4133088"/>
          </a:xfrm>
          <a:prstGeom prst="rect">
            <a:avLst/>
          </a:prstGeom>
          <a:solidFill>
            <a:srgbClr val="087E8B"/>
          </a:solidFill>
          <a:ln w="8890">
            <a:solidFill>
              <a:srgbClr val="087E8B"/>
            </a:solidFill>
            <a:prstDash val="solid"/>
          </a:ln>
        </p:spPr>
      </p:sp>
      <p:sp>
        <p:nvSpPr>
          <p:cNvPr id="16" name="Text 14"/>
          <p:cNvSpPr/>
          <p:nvPr/>
        </p:nvSpPr>
        <p:spPr>
          <a:xfrm>
            <a:off x="5458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ASSIGNMENT</a:t>
            </a:r>
            <a:endParaRPr lang="en-US" sz="1800" dirty="0"/>
          </a:p>
        </p:txBody>
      </p:sp>
      <p:sp>
        <p:nvSpPr>
          <p:cNvPr id="17" name="Text 15"/>
          <p:cNvSpPr/>
          <p:nvPr/>
        </p:nvSpPr>
        <p:spPr>
          <a:xfrm>
            <a:off x="5458968" y="3161538"/>
            <a:ext cx="3858768" cy="1635252"/>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A2 supplies G2 to</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Team2.</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It does not add Nutan</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as a member.</a:t>
            </a:r>
            <a:endParaRPr lang="en-US" sz="2500" dirty="0"/>
          </a:p>
        </p:txBody>
      </p:sp>
      <p:sp>
        <p:nvSpPr>
          <p:cNvPr id="18" name="Shape 16"/>
          <p:cNvSpPr/>
          <p:nvPr/>
        </p:nvSpPr>
        <p:spPr>
          <a:xfrm>
            <a:off x="9802368" y="2468880"/>
            <a:ext cx="4315968" cy="4133088"/>
          </a:xfrm>
          <a:prstGeom prst="roundRect">
            <a:avLst>
              <a:gd name="adj" fmla="val 2655"/>
            </a:avLst>
          </a:prstGeom>
          <a:solidFill>
            <a:srgbClr val="FFFFFF"/>
          </a:solidFill>
          <a:ln w="8890">
            <a:solidFill>
              <a:srgbClr val="CCD7E2"/>
            </a:solidFill>
            <a:prstDash val="solid"/>
          </a:ln>
        </p:spPr>
      </p:sp>
      <p:sp>
        <p:nvSpPr>
          <p:cNvPr id="19" name="Shape 17"/>
          <p:cNvSpPr/>
          <p:nvPr/>
        </p:nvSpPr>
        <p:spPr>
          <a:xfrm>
            <a:off x="9802368" y="2468880"/>
            <a:ext cx="50292" cy="4133088"/>
          </a:xfrm>
          <a:prstGeom prst="rect">
            <a:avLst/>
          </a:prstGeom>
          <a:solidFill>
            <a:srgbClr val="087E8B"/>
          </a:solidFill>
          <a:ln w="8890">
            <a:solidFill>
              <a:srgbClr val="087E8B"/>
            </a:solidFill>
            <a:prstDash val="solid"/>
          </a:ln>
        </p:spPr>
      </p:sp>
      <p:sp>
        <p:nvSpPr>
          <p:cNvPr id="20" name="Text 18"/>
          <p:cNvSpPr/>
          <p:nvPr/>
        </p:nvSpPr>
        <p:spPr>
          <a:xfrm>
            <a:off x="10030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OWNERSHIP / ADMIN</a:t>
            </a:r>
            <a:endParaRPr lang="en-US" sz="1800" dirty="0"/>
          </a:p>
        </p:txBody>
      </p:sp>
      <p:sp>
        <p:nvSpPr>
          <p:cNvPr id="21" name="Text 19"/>
          <p:cNvSpPr/>
          <p:nvPr/>
        </p:nvSpPr>
        <p:spPr>
          <a:xfrm>
            <a:off x="10030968" y="3161538"/>
            <a:ext cx="3858768" cy="2025777"/>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Maya can perform</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explicitly authorized</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management.</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That does not imply</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business access.</a:t>
            </a:r>
            <a:endParaRPr lang="en-US" sz="2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ADMINISTRATION</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Can assign? And may assign this authority?</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Both checks happen inside Auth Service for an authority-changing request.</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Administrative permission alone is not proof that a proposed grant fits.</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15</a:t>
            </a:r>
            <a:endParaRPr lang="en-US" sz="1400" dirty="0"/>
          </a:p>
        </p:txBody>
      </p:sp>
      <p:sp>
        <p:nvSpPr>
          <p:cNvPr id="10" name="Shape 8"/>
          <p:cNvSpPr/>
          <p:nvPr/>
        </p:nvSpPr>
        <p:spPr>
          <a:xfrm>
            <a:off x="731520" y="3017520"/>
            <a:ext cx="2880360" cy="2331720"/>
          </a:xfrm>
          <a:prstGeom prst="roundRect">
            <a:avLst>
              <a:gd name="adj" fmla="val 4706"/>
            </a:avLst>
          </a:prstGeom>
          <a:solidFill>
            <a:srgbClr val="FFFFFF"/>
          </a:solidFill>
          <a:ln w="8890">
            <a:solidFill>
              <a:srgbClr val="CCD7E2"/>
            </a:solidFill>
            <a:prstDash val="solid"/>
          </a:ln>
        </p:spPr>
      </p:sp>
      <p:sp>
        <p:nvSpPr>
          <p:cNvPr id="11" name="Shape 9"/>
          <p:cNvSpPr/>
          <p:nvPr/>
        </p:nvSpPr>
        <p:spPr>
          <a:xfrm>
            <a:off x="731520" y="3017520"/>
            <a:ext cx="50292" cy="2331720"/>
          </a:xfrm>
          <a:prstGeom prst="rect">
            <a:avLst/>
          </a:prstGeom>
          <a:solidFill>
            <a:srgbClr val="087E8B"/>
          </a:solidFill>
          <a:ln w="8890">
            <a:solidFill>
              <a:srgbClr val="087E8B"/>
            </a:solidFill>
            <a:prstDash val="solid"/>
          </a:ln>
        </p:spPr>
      </p:sp>
      <p:sp>
        <p:nvSpPr>
          <p:cNvPr id="12" name="Text 10"/>
          <p:cNvSpPr/>
          <p:nvPr/>
        </p:nvSpPr>
        <p:spPr>
          <a:xfrm>
            <a:off x="960120" y="3246120"/>
            <a:ext cx="2423160"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REQUEST</a:t>
            </a:r>
            <a:endParaRPr lang="en-US" sz="1800" dirty="0"/>
          </a:p>
        </p:txBody>
      </p:sp>
      <p:sp>
        <p:nvSpPr>
          <p:cNvPr id="13" name="Text 11"/>
          <p:cNvSpPr/>
          <p:nvPr/>
        </p:nvSpPr>
        <p:spPr>
          <a:xfrm>
            <a:off x="960120" y="3710178"/>
            <a:ext cx="2423160" cy="854202"/>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Maya proposes</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an assignment</a:t>
            </a:r>
            <a:endParaRPr lang="en-US" sz="2500" dirty="0"/>
          </a:p>
        </p:txBody>
      </p:sp>
      <p:sp>
        <p:nvSpPr>
          <p:cNvPr id="14" name="Shape 12"/>
          <p:cNvSpPr/>
          <p:nvPr/>
        </p:nvSpPr>
        <p:spPr>
          <a:xfrm>
            <a:off x="4096512" y="2743200"/>
            <a:ext cx="4251960" cy="2880360"/>
          </a:xfrm>
          <a:prstGeom prst="roundRect">
            <a:avLst>
              <a:gd name="adj" fmla="val 3810"/>
            </a:avLst>
          </a:prstGeom>
          <a:solidFill>
            <a:srgbClr val="FFFFFF"/>
          </a:solidFill>
          <a:ln w="8890">
            <a:solidFill>
              <a:srgbClr val="CCD7E2"/>
            </a:solidFill>
            <a:prstDash val="solid"/>
          </a:ln>
        </p:spPr>
      </p:sp>
      <p:sp>
        <p:nvSpPr>
          <p:cNvPr id="15" name="Shape 13"/>
          <p:cNvSpPr/>
          <p:nvPr/>
        </p:nvSpPr>
        <p:spPr>
          <a:xfrm>
            <a:off x="4096512" y="2743200"/>
            <a:ext cx="50292" cy="2880360"/>
          </a:xfrm>
          <a:prstGeom prst="rect">
            <a:avLst/>
          </a:prstGeom>
          <a:solidFill>
            <a:srgbClr val="087E8B"/>
          </a:solidFill>
          <a:ln w="8890">
            <a:solidFill>
              <a:srgbClr val="087E8B"/>
            </a:solidFill>
            <a:prstDash val="solid"/>
          </a:ln>
        </p:spPr>
      </p:sp>
      <p:sp>
        <p:nvSpPr>
          <p:cNvPr id="16" name="Text 14"/>
          <p:cNvSpPr/>
          <p:nvPr/>
        </p:nvSpPr>
        <p:spPr>
          <a:xfrm>
            <a:off x="4325112" y="2971800"/>
            <a:ext cx="3794760"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AUTH ENDPOINT CHECK</a:t>
            </a:r>
            <a:endParaRPr lang="en-US" sz="1800" dirty="0"/>
          </a:p>
        </p:txBody>
      </p:sp>
      <p:sp>
        <p:nvSpPr>
          <p:cNvPr id="17" name="Text 15"/>
          <p:cNvSpPr/>
          <p:nvPr/>
        </p:nvSpPr>
        <p:spPr>
          <a:xfrm>
            <a:off x="4325112" y="3435858"/>
            <a:ext cx="3794760" cy="1197864"/>
          </a:xfrm>
          <a:prstGeom prst="rect">
            <a:avLst/>
          </a:prstGeom>
          <a:noFill/>
          <a:ln/>
        </p:spPr>
        <p:txBody>
          <a:bodyPr wrap="none" lIns="0" tIns="0" rIns="0" bIns="0" rtlCol="0" anchor="t"/>
          <a:lstStyle/>
          <a:p>
            <a:pPr algn="l" indent="0" marL="0">
              <a:lnSpc>
                <a:spcPct val="123000"/>
              </a:lnSpc>
              <a:buNone/>
            </a:pPr>
            <a:r>
              <a:rPr lang="en-US" sz="2400" dirty="0">
                <a:solidFill>
                  <a:srgbClr val="14263D"/>
                </a:solidFill>
                <a:latin typeface="Arial" pitchFamily="34" charset="0"/>
                <a:ea typeface="Arial" pitchFamily="34" charset="-122"/>
                <a:cs typeface="Arial" pitchFamily="34" charset="-120"/>
              </a:rPr>
              <a:t>May Maya perform this</a:t>
            </a:r>
            <a:endParaRPr lang="en-US" sz="2400" dirty="0"/>
          </a:p>
          <a:p>
            <a:pPr algn="l" indent="0" marL="0">
              <a:lnSpc>
                <a:spcPct val="123000"/>
              </a:lnSpc>
              <a:buNone/>
            </a:pPr>
            <a:r>
              <a:rPr lang="en-US" sz="2400" dirty="0">
                <a:solidFill>
                  <a:srgbClr val="14263D"/>
                </a:solidFill>
                <a:latin typeface="Arial" pitchFamily="34" charset="0"/>
                <a:ea typeface="Arial" pitchFamily="34" charset="-122"/>
                <a:cs typeface="Arial" pitchFamily="34" charset="-120"/>
              </a:rPr>
              <a:t>assignment operation for</a:t>
            </a:r>
            <a:endParaRPr lang="en-US" sz="2400" dirty="0"/>
          </a:p>
          <a:p>
            <a:pPr algn="l" indent="0" marL="0">
              <a:lnSpc>
                <a:spcPct val="123000"/>
              </a:lnSpc>
              <a:buNone/>
            </a:pPr>
            <a:r>
              <a:rPr lang="en-US" sz="2400" dirty="0">
                <a:solidFill>
                  <a:srgbClr val="14263D"/>
                </a:solidFill>
                <a:latin typeface="Arial" pitchFamily="34" charset="0"/>
                <a:ea typeface="Arial" pitchFamily="34" charset="-122"/>
                <a:cs typeface="Arial" pitchFamily="34" charset="-120"/>
              </a:rPr>
              <a:t>this recipient?</a:t>
            </a:r>
            <a:endParaRPr lang="en-US" sz="2400" dirty="0"/>
          </a:p>
        </p:txBody>
      </p:sp>
      <p:sp>
        <p:nvSpPr>
          <p:cNvPr id="18" name="Shape 16"/>
          <p:cNvSpPr/>
          <p:nvPr/>
        </p:nvSpPr>
        <p:spPr>
          <a:xfrm>
            <a:off x="8869680" y="2743200"/>
            <a:ext cx="4892040" cy="2880360"/>
          </a:xfrm>
          <a:prstGeom prst="roundRect">
            <a:avLst>
              <a:gd name="adj" fmla="val 3810"/>
            </a:avLst>
          </a:prstGeom>
          <a:solidFill>
            <a:srgbClr val="FFFFFF"/>
          </a:solidFill>
          <a:ln w="8890">
            <a:solidFill>
              <a:srgbClr val="CCD7E2"/>
            </a:solidFill>
            <a:prstDash val="solid"/>
          </a:ln>
        </p:spPr>
      </p:sp>
      <p:sp>
        <p:nvSpPr>
          <p:cNvPr id="19" name="Shape 17"/>
          <p:cNvSpPr/>
          <p:nvPr/>
        </p:nvSpPr>
        <p:spPr>
          <a:xfrm>
            <a:off x="8869680" y="2743200"/>
            <a:ext cx="50292" cy="2880360"/>
          </a:xfrm>
          <a:prstGeom prst="rect">
            <a:avLst/>
          </a:prstGeom>
          <a:solidFill>
            <a:srgbClr val="087E8B"/>
          </a:solidFill>
          <a:ln w="8890">
            <a:solidFill>
              <a:srgbClr val="087E8B"/>
            </a:solidFill>
            <a:prstDash val="solid"/>
          </a:ln>
        </p:spPr>
      </p:sp>
      <p:sp>
        <p:nvSpPr>
          <p:cNvPr id="20" name="Text 18"/>
          <p:cNvSpPr/>
          <p:nvPr/>
        </p:nvSpPr>
        <p:spPr>
          <a:xfrm>
            <a:off x="9098280" y="2971800"/>
            <a:ext cx="4434840"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AUTH BOUNDARY CHECK</a:t>
            </a:r>
            <a:endParaRPr lang="en-US" sz="1800" dirty="0"/>
          </a:p>
        </p:txBody>
      </p:sp>
      <p:sp>
        <p:nvSpPr>
          <p:cNvPr id="21" name="Text 19"/>
          <p:cNvSpPr/>
          <p:nvPr/>
        </p:nvSpPr>
        <p:spPr>
          <a:xfrm>
            <a:off x="9098280" y="3435858"/>
            <a:ext cx="4434840" cy="1197864"/>
          </a:xfrm>
          <a:prstGeom prst="rect">
            <a:avLst/>
          </a:prstGeom>
          <a:noFill/>
          <a:ln/>
        </p:spPr>
        <p:txBody>
          <a:bodyPr wrap="none" lIns="0" tIns="0" rIns="0" bIns="0" rtlCol="0" anchor="t"/>
          <a:lstStyle/>
          <a:p>
            <a:pPr algn="l" indent="0" marL="0">
              <a:lnSpc>
                <a:spcPct val="123000"/>
              </a:lnSpc>
              <a:buNone/>
            </a:pPr>
            <a:r>
              <a:rPr lang="en-US" sz="2400" dirty="0">
                <a:solidFill>
                  <a:srgbClr val="14263D"/>
                </a:solidFill>
                <a:latin typeface="Arial" pitchFamily="34" charset="0"/>
                <a:ea typeface="Arial" pitchFamily="34" charset="-122"/>
                <a:cs typeface="Arial" pitchFamily="34" charset="-120"/>
              </a:rPr>
              <a:t>Does the proposed authority</a:t>
            </a:r>
            <a:endParaRPr lang="en-US" sz="2400" dirty="0"/>
          </a:p>
          <a:p>
            <a:pPr algn="l" indent="0" marL="0">
              <a:lnSpc>
                <a:spcPct val="123000"/>
              </a:lnSpc>
              <a:buNone/>
            </a:pPr>
            <a:r>
              <a:rPr lang="en-US" sz="2400" dirty="0">
                <a:solidFill>
                  <a:srgbClr val="14263D"/>
                </a:solidFill>
                <a:latin typeface="Arial" pitchFamily="34" charset="0"/>
                <a:ea typeface="Arial" pitchFamily="34" charset="-122"/>
                <a:cs typeface="Arial" pitchFamily="34" charset="-120"/>
              </a:rPr>
              <a:t>fit valid sources and team</a:t>
            </a:r>
            <a:endParaRPr lang="en-US" sz="2400" dirty="0"/>
          </a:p>
          <a:p>
            <a:pPr algn="l" indent="0" marL="0">
              <a:lnSpc>
                <a:spcPct val="123000"/>
              </a:lnSpc>
              <a:buNone/>
            </a:pPr>
            <a:r>
              <a:rPr lang="en-US" sz="2400" dirty="0">
                <a:solidFill>
                  <a:srgbClr val="14263D"/>
                </a:solidFill>
                <a:latin typeface="Arial" pitchFamily="34" charset="0"/>
                <a:ea typeface="Arial" pitchFamily="34" charset="-122"/>
                <a:cs typeface="Arial" pitchFamily="34" charset="-120"/>
              </a:rPr>
              <a:t>ceilings?</a:t>
            </a:r>
            <a:endParaRPr lang="en-US" sz="2400" dirty="0"/>
          </a:p>
        </p:txBody>
      </p:sp>
      <p:sp>
        <p:nvSpPr>
          <p:cNvPr id="22" name="Shape 20"/>
          <p:cNvSpPr/>
          <p:nvPr/>
        </p:nvSpPr>
        <p:spPr>
          <a:xfrm>
            <a:off x="3621024" y="4178808"/>
            <a:ext cx="402336" cy="0"/>
          </a:xfrm>
          <a:prstGeom prst="line">
            <a:avLst/>
          </a:prstGeom>
          <a:noFill/>
          <a:ln w="25400">
            <a:solidFill>
              <a:srgbClr val="087E8B"/>
            </a:solidFill>
            <a:prstDash val="solid"/>
            <a:headEnd type="none"/>
            <a:tailEnd type="triangle"/>
          </a:ln>
        </p:spPr>
      </p:sp>
      <p:sp>
        <p:nvSpPr>
          <p:cNvPr id="23" name="Shape 21"/>
          <p:cNvSpPr/>
          <p:nvPr/>
        </p:nvSpPr>
        <p:spPr>
          <a:xfrm>
            <a:off x="8357616" y="4178808"/>
            <a:ext cx="429768" cy="0"/>
          </a:xfrm>
          <a:prstGeom prst="line">
            <a:avLst/>
          </a:prstGeom>
          <a:noFill/>
          <a:ln w="25400">
            <a:solidFill>
              <a:srgbClr val="087E8B"/>
            </a:solidFill>
            <a:prstDash val="solid"/>
            <a:headEnd type="none"/>
            <a:tailEnd type="triangle"/>
          </a:ln>
        </p:spPr>
      </p:sp>
      <p:sp>
        <p:nvSpPr>
          <p:cNvPr id="24" name="Text 22"/>
          <p:cNvSpPr/>
          <p:nvPr/>
        </p:nvSpPr>
        <p:spPr>
          <a:xfrm>
            <a:off x="1828800" y="6400800"/>
            <a:ext cx="10972800" cy="479298"/>
          </a:xfrm>
          <a:prstGeom prst="rect">
            <a:avLst/>
          </a:prstGeom>
          <a:noFill/>
          <a:ln/>
        </p:spPr>
        <p:txBody>
          <a:bodyPr wrap="none" lIns="0" tIns="0" rIns="0" bIns="0" rtlCol="0" anchor="t"/>
          <a:lstStyle/>
          <a:p>
            <a:pPr algn="ctr" indent="0" marL="0">
              <a:lnSpc>
                <a:spcPct val="123000"/>
              </a:lnSpc>
              <a:buNone/>
            </a:pPr>
            <a:r>
              <a:rPr lang="en-US" sz="2600" b="1" dirty="0">
                <a:solidFill>
                  <a:srgbClr val="087E8B"/>
                </a:solidFill>
                <a:latin typeface="Arial" pitchFamily="34" charset="0"/>
                <a:ea typeface="Arial" pitchFamily="34" charset="-122"/>
                <a:cs typeface="Arial" pitchFamily="34" charset="-120"/>
              </a:rPr>
              <a:t>Only a request passing both checks may be persisted.</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DEPENDENT AUTHORITY</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A child grant can only narrow</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G2 selects read and adds C17 to G1’s Finance boundary.</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Child {} retains the parent boundary. It never becomes an escape hatch.</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16</a:t>
            </a:r>
            <a:endParaRPr lang="en-US" sz="1400" dirty="0"/>
          </a:p>
        </p:txBody>
      </p:sp>
      <p:sp>
        <p:nvSpPr>
          <p:cNvPr id="10" name="Text 8"/>
          <p:cNvSpPr/>
          <p:nvPr/>
        </p:nvSpPr>
        <p:spPr>
          <a:xfrm>
            <a:off x="658368" y="2404872"/>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Permission subset</a:t>
            </a:r>
            <a:endParaRPr lang="en-US" sz="2200" dirty="0"/>
          </a:p>
        </p:txBody>
      </p:sp>
      <p:sp>
        <p:nvSpPr>
          <p:cNvPr id="11" name="Text 9"/>
          <p:cNvSpPr/>
          <p:nvPr/>
        </p:nvSpPr>
        <p:spPr>
          <a:xfrm>
            <a:off x="658368" y="2867406"/>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Read is selected from parent</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read/write.</a:t>
            </a:r>
            <a:endParaRPr lang="en-US" sz="2200" dirty="0"/>
          </a:p>
        </p:txBody>
      </p:sp>
      <p:sp>
        <p:nvSpPr>
          <p:cNvPr id="12" name="Text 10"/>
          <p:cNvSpPr/>
          <p:nvPr/>
        </p:nvSpPr>
        <p:spPr>
          <a:xfrm>
            <a:off x="658368" y="3920490"/>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Scope AND</a:t>
            </a:r>
            <a:endParaRPr lang="en-US" sz="2200" dirty="0"/>
          </a:p>
        </p:txBody>
      </p:sp>
      <p:sp>
        <p:nvSpPr>
          <p:cNvPr id="13" name="Text 11"/>
          <p:cNvSpPr/>
          <p:nvPr/>
        </p:nvSpPr>
        <p:spPr>
          <a:xfrm>
            <a:off x="658368" y="4383024"/>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Effective scope is Finance AND</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C17.</a:t>
            </a:r>
            <a:endParaRPr lang="en-US" sz="2200" dirty="0"/>
          </a:p>
        </p:txBody>
      </p:sp>
      <p:sp>
        <p:nvSpPr>
          <p:cNvPr id="14" name="Text 12"/>
          <p:cNvSpPr/>
          <p:nvPr/>
        </p:nvSpPr>
        <p:spPr>
          <a:xfrm>
            <a:off x="658368" y="5436108"/>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Live dependency</a:t>
            </a:r>
            <a:endParaRPr lang="en-US" sz="2200" dirty="0"/>
          </a:p>
        </p:txBody>
      </p:sp>
      <p:sp>
        <p:nvSpPr>
          <p:cNvPr id="15" name="Text 13"/>
          <p:cNvSpPr/>
          <p:nvPr/>
        </p:nvSpPr>
        <p:spPr>
          <a:xfrm>
            <a:off x="658368" y="5898642"/>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parent definition alone is</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not support.</a:t>
            </a:r>
            <a:endParaRPr lang="en-US" sz="2200" dirty="0"/>
          </a:p>
        </p:txBody>
      </p:sp>
      <p:sp>
        <p:nvSpPr>
          <p:cNvPr id="16" name="Shape 14"/>
          <p:cNvSpPr/>
          <p:nvPr/>
        </p:nvSpPr>
        <p:spPr>
          <a:xfrm>
            <a:off x="5806440" y="2286000"/>
            <a:ext cx="8229600" cy="5029200"/>
          </a:xfrm>
          <a:prstGeom prst="roundRect">
            <a:avLst>
              <a:gd name="adj" fmla="val 2182"/>
            </a:avLst>
          </a:prstGeom>
          <a:solidFill>
            <a:srgbClr val="14263D"/>
          </a:solidFill>
          <a:ln w="8890">
            <a:solidFill>
              <a:srgbClr val="14263D"/>
            </a:solidFill>
            <a:prstDash val="solid"/>
          </a:ln>
        </p:spPr>
      </p:sp>
      <p:sp>
        <p:nvSpPr>
          <p:cNvPr id="17" name="Text 15"/>
          <p:cNvSpPr/>
          <p:nvPr/>
        </p:nvSpPr>
        <p:spPr>
          <a:xfrm>
            <a:off x="6062472" y="246888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APPROVED CHILD GRANT-CONTENT SHAPE</a:t>
            </a:r>
            <a:endParaRPr lang="en-US" sz="1100" dirty="0"/>
          </a:p>
        </p:txBody>
      </p:sp>
      <p:sp>
        <p:nvSpPr>
          <p:cNvPr id="18" name="Text 16"/>
          <p:cNvSpPr/>
          <p:nvPr/>
        </p:nvSpPr>
        <p:spPr>
          <a:xfrm>
            <a:off x="6062472" y="289864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9" name="Text 17"/>
          <p:cNvSpPr/>
          <p:nvPr/>
        </p:nvSpPr>
        <p:spPr>
          <a:xfrm>
            <a:off x="6062472" y="316382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0" name="Text 18"/>
          <p:cNvSpPr/>
          <p:nvPr/>
        </p:nvSpPr>
        <p:spPr>
          <a:xfrm>
            <a:off x="6062472" y="342900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"grant_id": "G2",</a:t>
            </a:r>
            <a:endParaRPr lang="en-US" sz="1700" dirty="0"/>
          </a:p>
        </p:txBody>
      </p:sp>
      <p:sp>
        <p:nvSpPr>
          <p:cNvPr id="21" name="Text 19"/>
          <p:cNvSpPr/>
          <p:nvPr/>
        </p:nvSpPr>
        <p:spPr>
          <a:xfrm>
            <a:off x="6062472" y="369417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A3B2C3"/>
                </a:solidFill>
                <a:latin typeface="Courier New" pitchFamily="34" charset="0"/>
                <a:ea typeface="Courier New" pitchFamily="34" charset="-122"/>
                <a:cs typeface="Courier New" pitchFamily="34" charset="-120"/>
              </a:rPr>
              <a:t>  "revision": 1,</a:t>
            </a:r>
            <a:endParaRPr lang="en-US" sz="1700" dirty="0"/>
          </a:p>
        </p:txBody>
      </p:sp>
      <p:sp>
        <p:nvSpPr>
          <p:cNvPr id="22" name="Text 20"/>
          <p:cNvSpPr/>
          <p:nvPr/>
        </p:nvSpPr>
        <p:spPr>
          <a:xfrm>
            <a:off x="6062472" y="395935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"parent_grant_id": "G1",</a:t>
            </a:r>
            <a:endParaRPr lang="en-US" sz="1700" dirty="0"/>
          </a:p>
        </p:txBody>
      </p:sp>
      <p:sp>
        <p:nvSpPr>
          <p:cNvPr id="23" name="Text 21"/>
          <p:cNvSpPr/>
          <p:nvPr/>
        </p:nvSpPr>
        <p:spPr>
          <a:xfrm>
            <a:off x="6062472" y="422452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"permissions": [</a:t>
            </a:r>
            <a:endParaRPr lang="en-US" sz="1700" dirty="0"/>
          </a:p>
        </p:txBody>
      </p:sp>
      <p:sp>
        <p:nvSpPr>
          <p:cNvPr id="24" name="Text 22"/>
          <p:cNvSpPr/>
          <p:nvPr/>
        </p:nvSpPr>
        <p:spPr>
          <a:xfrm>
            <a:off x="6062472" y="448970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"hrms:employee:certificate::read"</a:t>
            </a:r>
            <a:endParaRPr lang="en-US" sz="1700" dirty="0"/>
          </a:p>
        </p:txBody>
      </p:sp>
      <p:sp>
        <p:nvSpPr>
          <p:cNvPr id="25" name="Text 23"/>
          <p:cNvSpPr/>
          <p:nvPr/>
        </p:nvSpPr>
        <p:spPr>
          <a:xfrm>
            <a:off x="6062472" y="475488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a:t>
            </a:r>
            <a:endParaRPr lang="en-US" sz="1700" dirty="0"/>
          </a:p>
        </p:txBody>
      </p:sp>
      <p:sp>
        <p:nvSpPr>
          <p:cNvPr id="26" name="Text 24"/>
          <p:cNvSpPr/>
          <p:nvPr/>
        </p:nvSpPr>
        <p:spPr>
          <a:xfrm>
            <a:off x="6062472" y="502005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"scope": {"cert": "C17"}</a:t>
            </a:r>
            <a:endParaRPr lang="en-US" sz="1700" dirty="0"/>
          </a:p>
        </p:txBody>
      </p:sp>
      <p:sp>
        <p:nvSpPr>
          <p:cNvPr id="27" name="Text 25"/>
          <p:cNvSpPr/>
          <p:nvPr/>
        </p:nvSpPr>
        <p:spPr>
          <a:xfrm>
            <a:off x="6062472" y="528523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DEPENDENCY GRAPH</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Two lineages, joined by assignments</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Team relationships and grant relationships must both be established.</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Team lineage is not grant lineage; neither implies human membership.</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17</a:t>
            </a:r>
            <a:endParaRPr lang="en-US" sz="1400" dirty="0"/>
          </a:p>
        </p:txBody>
      </p:sp>
      <p:sp>
        <p:nvSpPr>
          <p:cNvPr id="10" name="Shape 8"/>
          <p:cNvSpPr/>
          <p:nvPr/>
        </p:nvSpPr>
        <p:spPr>
          <a:xfrm>
            <a:off x="777240" y="2514600"/>
            <a:ext cx="5394960" cy="1581912"/>
          </a:xfrm>
          <a:prstGeom prst="roundRect">
            <a:avLst>
              <a:gd name="adj" fmla="val 6936"/>
            </a:avLst>
          </a:prstGeom>
          <a:solidFill>
            <a:srgbClr val="FFFFFF"/>
          </a:solidFill>
          <a:ln w="8890">
            <a:solidFill>
              <a:srgbClr val="CCD7E2"/>
            </a:solidFill>
            <a:prstDash val="solid"/>
          </a:ln>
        </p:spPr>
      </p:sp>
      <p:sp>
        <p:nvSpPr>
          <p:cNvPr id="11" name="Shape 9"/>
          <p:cNvSpPr/>
          <p:nvPr/>
        </p:nvSpPr>
        <p:spPr>
          <a:xfrm>
            <a:off x="777240" y="2514600"/>
            <a:ext cx="50292" cy="1581912"/>
          </a:xfrm>
          <a:prstGeom prst="rect">
            <a:avLst/>
          </a:prstGeom>
          <a:solidFill>
            <a:srgbClr val="087E8B"/>
          </a:solidFill>
          <a:ln w="8890">
            <a:solidFill>
              <a:srgbClr val="087E8B"/>
            </a:solidFill>
            <a:prstDash val="solid"/>
          </a:ln>
        </p:spPr>
      </p:sp>
      <p:sp>
        <p:nvSpPr>
          <p:cNvPr id="12" name="Text 10"/>
          <p:cNvSpPr/>
          <p:nvPr/>
        </p:nvSpPr>
        <p:spPr>
          <a:xfrm>
            <a:off x="1005840" y="2743200"/>
            <a:ext cx="4937760"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G1 · PARENT GRANT</a:t>
            </a:r>
            <a:endParaRPr lang="en-US" sz="1800" dirty="0"/>
          </a:p>
        </p:txBody>
      </p:sp>
      <p:sp>
        <p:nvSpPr>
          <p:cNvPr id="13" name="Text 11"/>
          <p:cNvSpPr/>
          <p:nvPr/>
        </p:nvSpPr>
        <p:spPr>
          <a:xfrm>
            <a:off x="1005840" y="3207258"/>
            <a:ext cx="4937760" cy="697992"/>
          </a:xfrm>
          <a:prstGeom prst="rect">
            <a:avLst/>
          </a:prstGeom>
          <a:noFill/>
          <a:ln/>
        </p:spPr>
        <p:txBody>
          <a:bodyPr wrap="none" lIns="0" tIns="0" rIns="0" bIns="0" rtlCol="0" anchor="t"/>
          <a:lstStyle/>
          <a:p>
            <a:pPr algn="l" indent="0" marL="0">
              <a:lnSpc>
                <a:spcPct val="123000"/>
              </a:lnSpc>
              <a:buNone/>
            </a:pPr>
            <a:r>
              <a:rPr lang="en-US" sz="2000" dirty="0">
                <a:solidFill>
                  <a:srgbClr val="14263D"/>
                </a:solidFill>
                <a:latin typeface="Arial" pitchFamily="34" charset="0"/>
                <a:ea typeface="Arial" pitchFamily="34" charset="-122"/>
                <a:cs typeface="Arial" pitchFamily="34" charset="-120"/>
              </a:rPr>
              <a:t>Read + write</a:t>
            </a:r>
            <a:endParaRPr lang="en-US" sz="2000" dirty="0"/>
          </a:p>
          <a:p>
            <a:pPr algn="l" indent="0" marL="0">
              <a:lnSpc>
                <a:spcPct val="123000"/>
              </a:lnSpc>
              <a:buNone/>
            </a:pPr>
            <a:r>
              <a:rPr lang="en-US" sz="2000" dirty="0">
                <a:solidFill>
                  <a:srgbClr val="14263D"/>
                </a:solidFill>
                <a:latin typeface="Arial" pitchFamily="34" charset="0"/>
                <a:ea typeface="Arial" pitchFamily="34" charset="-122"/>
                <a:cs typeface="Arial" pitchFamily="34" charset="-120"/>
              </a:rPr>
              <a:t>Finance boundary</a:t>
            </a:r>
            <a:endParaRPr lang="en-US" sz="2000" dirty="0"/>
          </a:p>
        </p:txBody>
      </p:sp>
      <p:sp>
        <p:nvSpPr>
          <p:cNvPr id="14" name="Shape 12"/>
          <p:cNvSpPr/>
          <p:nvPr/>
        </p:nvSpPr>
        <p:spPr>
          <a:xfrm>
            <a:off x="8229600" y="2514600"/>
            <a:ext cx="5394960" cy="1581912"/>
          </a:xfrm>
          <a:prstGeom prst="roundRect">
            <a:avLst>
              <a:gd name="adj" fmla="val 6936"/>
            </a:avLst>
          </a:prstGeom>
          <a:solidFill>
            <a:srgbClr val="FFFFFF"/>
          </a:solidFill>
          <a:ln w="8890">
            <a:solidFill>
              <a:srgbClr val="CCD7E2"/>
            </a:solidFill>
            <a:prstDash val="solid"/>
          </a:ln>
        </p:spPr>
      </p:sp>
      <p:sp>
        <p:nvSpPr>
          <p:cNvPr id="15" name="Shape 13"/>
          <p:cNvSpPr/>
          <p:nvPr/>
        </p:nvSpPr>
        <p:spPr>
          <a:xfrm>
            <a:off x="8229600" y="2514600"/>
            <a:ext cx="50292" cy="1581912"/>
          </a:xfrm>
          <a:prstGeom prst="rect">
            <a:avLst/>
          </a:prstGeom>
          <a:solidFill>
            <a:srgbClr val="087E8B"/>
          </a:solidFill>
          <a:ln w="8890">
            <a:solidFill>
              <a:srgbClr val="087E8B"/>
            </a:solidFill>
            <a:prstDash val="solid"/>
          </a:ln>
        </p:spPr>
      </p:sp>
      <p:sp>
        <p:nvSpPr>
          <p:cNvPr id="16" name="Text 14"/>
          <p:cNvSpPr/>
          <p:nvPr/>
        </p:nvSpPr>
        <p:spPr>
          <a:xfrm>
            <a:off x="8458200" y="2743200"/>
            <a:ext cx="4937760"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TEAM1</a:t>
            </a:r>
            <a:endParaRPr lang="en-US" sz="1800" dirty="0"/>
          </a:p>
        </p:txBody>
      </p:sp>
      <p:sp>
        <p:nvSpPr>
          <p:cNvPr id="17" name="Text 15"/>
          <p:cNvSpPr/>
          <p:nvPr/>
        </p:nvSpPr>
        <p:spPr>
          <a:xfrm>
            <a:off x="8458200" y="3207258"/>
            <a:ext cx="4937760" cy="432435"/>
          </a:xfrm>
          <a:prstGeom prst="rect">
            <a:avLst/>
          </a:prstGeom>
          <a:noFill/>
          <a:ln/>
        </p:spPr>
        <p:txBody>
          <a:bodyPr wrap="none" lIns="0" tIns="0" rIns="0" bIns="0" rtlCol="0" anchor="t"/>
          <a:lstStyle/>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Holds G1 through A1</a:t>
            </a:r>
            <a:endParaRPr lang="en-US" sz="2300" dirty="0"/>
          </a:p>
        </p:txBody>
      </p:sp>
      <p:sp>
        <p:nvSpPr>
          <p:cNvPr id="18" name="Shape 16"/>
          <p:cNvSpPr/>
          <p:nvPr/>
        </p:nvSpPr>
        <p:spPr>
          <a:xfrm>
            <a:off x="6263640" y="3328416"/>
            <a:ext cx="1865376" cy="0"/>
          </a:xfrm>
          <a:prstGeom prst="line">
            <a:avLst/>
          </a:prstGeom>
          <a:noFill/>
          <a:ln w="25400">
            <a:solidFill>
              <a:srgbClr val="087E8B"/>
            </a:solidFill>
            <a:prstDash val="solid"/>
            <a:headEnd type="none"/>
            <a:tailEnd type="triangle"/>
          </a:ln>
        </p:spPr>
      </p:sp>
      <p:sp>
        <p:nvSpPr>
          <p:cNvPr id="19" name="Text 17"/>
          <p:cNvSpPr/>
          <p:nvPr/>
        </p:nvSpPr>
        <p:spPr>
          <a:xfrm>
            <a:off x="6373368" y="2852928"/>
            <a:ext cx="1719072" cy="291846"/>
          </a:xfrm>
          <a:prstGeom prst="rect">
            <a:avLst/>
          </a:prstGeom>
          <a:noFill/>
          <a:ln/>
        </p:spPr>
        <p:txBody>
          <a:bodyPr wrap="none" lIns="0" tIns="0" rIns="0" bIns="0" rtlCol="0" anchor="t"/>
          <a:lstStyle/>
          <a:p>
            <a:pPr algn="ctr" indent="0" marL="0">
              <a:lnSpc>
                <a:spcPct val="123000"/>
              </a:lnSpc>
              <a:buNone/>
            </a:pPr>
            <a:r>
              <a:rPr lang="en-US" sz="1400" b="1" dirty="0">
                <a:solidFill>
                  <a:srgbClr val="087E8B"/>
                </a:solidFill>
                <a:latin typeface="Arial" pitchFamily="34" charset="0"/>
                <a:ea typeface="Arial" pitchFamily="34" charset="-122"/>
                <a:cs typeface="Arial" pitchFamily="34" charset="-120"/>
              </a:rPr>
              <a:t>A1 assignment</a:t>
            </a:r>
            <a:endParaRPr lang="en-US" sz="1400" dirty="0"/>
          </a:p>
        </p:txBody>
      </p:sp>
      <p:sp>
        <p:nvSpPr>
          <p:cNvPr id="20" name="Shape 18"/>
          <p:cNvSpPr/>
          <p:nvPr/>
        </p:nvSpPr>
        <p:spPr>
          <a:xfrm>
            <a:off x="777240" y="5047488"/>
            <a:ext cx="5394960" cy="1581912"/>
          </a:xfrm>
          <a:prstGeom prst="roundRect">
            <a:avLst>
              <a:gd name="adj" fmla="val 6936"/>
            </a:avLst>
          </a:prstGeom>
          <a:solidFill>
            <a:srgbClr val="FFFFFF"/>
          </a:solidFill>
          <a:ln w="8890">
            <a:solidFill>
              <a:srgbClr val="CCD7E2"/>
            </a:solidFill>
            <a:prstDash val="solid"/>
          </a:ln>
        </p:spPr>
      </p:sp>
      <p:sp>
        <p:nvSpPr>
          <p:cNvPr id="21" name="Shape 19"/>
          <p:cNvSpPr/>
          <p:nvPr/>
        </p:nvSpPr>
        <p:spPr>
          <a:xfrm>
            <a:off x="777240" y="5047488"/>
            <a:ext cx="50292" cy="1581912"/>
          </a:xfrm>
          <a:prstGeom prst="rect">
            <a:avLst/>
          </a:prstGeom>
          <a:solidFill>
            <a:srgbClr val="087E8B"/>
          </a:solidFill>
          <a:ln w="8890">
            <a:solidFill>
              <a:srgbClr val="087E8B"/>
            </a:solidFill>
            <a:prstDash val="solid"/>
          </a:ln>
        </p:spPr>
      </p:sp>
      <p:sp>
        <p:nvSpPr>
          <p:cNvPr id="22" name="Text 20"/>
          <p:cNvSpPr/>
          <p:nvPr/>
        </p:nvSpPr>
        <p:spPr>
          <a:xfrm>
            <a:off x="1005840" y="5276088"/>
            <a:ext cx="4937760"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G2 · CHILD GRANT</a:t>
            </a:r>
            <a:endParaRPr lang="en-US" sz="1800" dirty="0"/>
          </a:p>
        </p:txBody>
      </p:sp>
      <p:sp>
        <p:nvSpPr>
          <p:cNvPr id="23" name="Text 21"/>
          <p:cNvSpPr/>
          <p:nvPr/>
        </p:nvSpPr>
        <p:spPr>
          <a:xfrm>
            <a:off x="1005840" y="5740146"/>
            <a:ext cx="4937760" cy="697992"/>
          </a:xfrm>
          <a:prstGeom prst="rect">
            <a:avLst/>
          </a:prstGeom>
          <a:noFill/>
          <a:ln/>
        </p:spPr>
        <p:txBody>
          <a:bodyPr wrap="none" lIns="0" tIns="0" rIns="0" bIns="0" rtlCol="0" anchor="t"/>
          <a:lstStyle/>
          <a:p>
            <a:pPr algn="l" indent="0" marL="0">
              <a:lnSpc>
                <a:spcPct val="123000"/>
              </a:lnSpc>
              <a:buNone/>
            </a:pPr>
            <a:r>
              <a:rPr lang="en-US" sz="2000" dirty="0">
                <a:solidFill>
                  <a:srgbClr val="14263D"/>
                </a:solidFill>
                <a:latin typeface="Arial" pitchFamily="34" charset="0"/>
                <a:ea typeface="Arial" pitchFamily="34" charset="-122"/>
                <a:cs typeface="Arial" pitchFamily="34" charset="-120"/>
              </a:rPr>
              <a:t>Read only</a:t>
            </a:r>
            <a:endParaRPr lang="en-US" sz="2000" dirty="0"/>
          </a:p>
          <a:p>
            <a:pPr algn="l" indent="0" marL="0">
              <a:lnSpc>
                <a:spcPct val="123000"/>
              </a:lnSpc>
              <a:buNone/>
            </a:pPr>
            <a:r>
              <a:rPr lang="en-US" sz="2000" dirty="0">
                <a:solidFill>
                  <a:srgbClr val="14263D"/>
                </a:solidFill>
                <a:latin typeface="Arial" pitchFamily="34" charset="0"/>
                <a:ea typeface="Arial" pitchFamily="34" charset="-122"/>
                <a:cs typeface="Arial" pitchFamily="34" charset="-120"/>
              </a:rPr>
              <a:t>Finance AND C17</a:t>
            </a:r>
            <a:endParaRPr lang="en-US" sz="2000" dirty="0"/>
          </a:p>
        </p:txBody>
      </p:sp>
      <p:sp>
        <p:nvSpPr>
          <p:cNvPr id="24" name="Shape 22"/>
          <p:cNvSpPr/>
          <p:nvPr/>
        </p:nvSpPr>
        <p:spPr>
          <a:xfrm>
            <a:off x="8229600" y="5047488"/>
            <a:ext cx="5394960" cy="1581912"/>
          </a:xfrm>
          <a:prstGeom prst="roundRect">
            <a:avLst>
              <a:gd name="adj" fmla="val 6936"/>
            </a:avLst>
          </a:prstGeom>
          <a:solidFill>
            <a:srgbClr val="FFFFFF"/>
          </a:solidFill>
          <a:ln w="8890">
            <a:solidFill>
              <a:srgbClr val="CCD7E2"/>
            </a:solidFill>
            <a:prstDash val="solid"/>
          </a:ln>
        </p:spPr>
      </p:sp>
      <p:sp>
        <p:nvSpPr>
          <p:cNvPr id="25" name="Shape 23"/>
          <p:cNvSpPr/>
          <p:nvPr/>
        </p:nvSpPr>
        <p:spPr>
          <a:xfrm>
            <a:off x="8229600" y="5047488"/>
            <a:ext cx="50292" cy="1581912"/>
          </a:xfrm>
          <a:prstGeom prst="rect">
            <a:avLst/>
          </a:prstGeom>
          <a:solidFill>
            <a:srgbClr val="087E8B"/>
          </a:solidFill>
          <a:ln w="8890">
            <a:solidFill>
              <a:srgbClr val="087E8B"/>
            </a:solidFill>
            <a:prstDash val="solid"/>
          </a:ln>
        </p:spPr>
      </p:sp>
      <p:sp>
        <p:nvSpPr>
          <p:cNvPr id="26" name="Text 24"/>
          <p:cNvSpPr/>
          <p:nvPr/>
        </p:nvSpPr>
        <p:spPr>
          <a:xfrm>
            <a:off x="8458200" y="5276088"/>
            <a:ext cx="4937760"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TEAM2</a:t>
            </a:r>
            <a:endParaRPr lang="en-US" sz="1800" dirty="0"/>
          </a:p>
        </p:txBody>
      </p:sp>
      <p:sp>
        <p:nvSpPr>
          <p:cNvPr id="27" name="Text 25"/>
          <p:cNvSpPr/>
          <p:nvPr/>
        </p:nvSpPr>
        <p:spPr>
          <a:xfrm>
            <a:off x="8458200" y="5740146"/>
            <a:ext cx="4937760" cy="432435"/>
          </a:xfrm>
          <a:prstGeom prst="rect">
            <a:avLst/>
          </a:prstGeom>
          <a:noFill/>
          <a:ln/>
        </p:spPr>
        <p:txBody>
          <a:bodyPr wrap="none" lIns="0" tIns="0" rIns="0" bIns="0" rtlCol="0" anchor="t"/>
          <a:lstStyle/>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Holds G2 through A2</a:t>
            </a:r>
            <a:endParaRPr lang="en-US" sz="2300" dirty="0"/>
          </a:p>
        </p:txBody>
      </p:sp>
      <p:sp>
        <p:nvSpPr>
          <p:cNvPr id="28" name="Shape 26"/>
          <p:cNvSpPr/>
          <p:nvPr/>
        </p:nvSpPr>
        <p:spPr>
          <a:xfrm>
            <a:off x="6263640" y="5815584"/>
            <a:ext cx="1865376" cy="0"/>
          </a:xfrm>
          <a:prstGeom prst="line">
            <a:avLst/>
          </a:prstGeom>
          <a:noFill/>
          <a:ln w="25400">
            <a:solidFill>
              <a:srgbClr val="087E8B"/>
            </a:solidFill>
            <a:prstDash val="solid"/>
            <a:headEnd type="none"/>
            <a:tailEnd type="triangle"/>
          </a:ln>
        </p:spPr>
      </p:sp>
      <p:sp>
        <p:nvSpPr>
          <p:cNvPr id="29" name="Text 27"/>
          <p:cNvSpPr/>
          <p:nvPr/>
        </p:nvSpPr>
        <p:spPr>
          <a:xfrm>
            <a:off x="6373368" y="5367528"/>
            <a:ext cx="1719072" cy="291846"/>
          </a:xfrm>
          <a:prstGeom prst="rect">
            <a:avLst/>
          </a:prstGeom>
          <a:noFill/>
          <a:ln/>
        </p:spPr>
        <p:txBody>
          <a:bodyPr wrap="none" lIns="0" tIns="0" rIns="0" bIns="0" rtlCol="0" anchor="t"/>
          <a:lstStyle/>
          <a:p>
            <a:pPr algn="ctr" indent="0" marL="0">
              <a:lnSpc>
                <a:spcPct val="123000"/>
              </a:lnSpc>
              <a:buNone/>
            </a:pPr>
            <a:r>
              <a:rPr lang="en-US" sz="1400" b="1" dirty="0">
                <a:solidFill>
                  <a:srgbClr val="087E8B"/>
                </a:solidFill>
                <a:latin typeface="Arial" pitchFamily="34" charset="0"/>
                <a:ea typeface="Arial" pitchFamily="34" charset="-122"/>
                <a:cs typeface="Arial" pitchFamily="34" charset="-120"/>
              </a:rPr>
              <a:t>A2 assignment</a:t>
            </a:r>
            <a:endParaRPr lang="en-US" sz="1400" dirty="0"/>
          </a:p>
        </p:txBody>
      </p:sp>
      <p:sp>
        <p:nvSpPr>
          <p:cNvPr id="30" name="Shape 28"/>
          <p:cNvSpPr/>
          <p:nvPr/>
        </p:nvSpPr>
        <p:spPr>
          <a:xfrm>
            <a:off x="3474720" y="4160520"/>
            <a:ext cx="0" cy="786384"/>
          </a:xfrm>
          <a:prstGeom prst="line">
            <a:avLst/>
          </a:prstGeom>
          <a:noFill/>
          <a:ln w="25400">
            <a:solidFill>
              <a:srgbClr val="087E8B"/>
            </a:solidFill>
            <a:prstDash val="solid"/>
            <a:headEnd type="none"/>
            <a:tailEnd type="triangle"/>
          </a:ln>
        </p:spPr>
      </p:sp>
      <p:sp>
        <p:nvSpPr>
          <p:cNvPr id="31" name="Text 29"/>
          <p:cNvSpPr/>
          <p:nvPr/>
        </p:nvSpPr>
        <p:spPr>
          <a:xfrm>
            <a:off x="850392" y="4352544"/>
            <a:ext cx="2423160" cy="323088"/>
          </a:xfrm>
          <a:prstGeom prst="rect">
            <a:avLst/>
          </a:prstGeom>
          <a:noFill/>
          <a:ln/>
        </p:spPr>
        <p:txBody>
          <a:bodyPr wrap="none" lIns="0" tIns="0" rIns="0" bIns="0" rtlCol="0" anchor="t"/>
          <a:lstStyle/>
          <a:p>
            <a:pPr algn="l" indent="0" marL="0">
              <a:lnSpc>
                <a:spcPct val="123000"/>
              </a:lnSpc>
              <a:buNone/>
            </a:pPr>
            <a:r>
              <a:rPr lang="en-US" sz="1600" dirty="0">
                <a:solidFill>
                  <a:srgbClr val="087E8B"/>
                </a:solidFill>
                <a:latin typeface="Arial" pitchFamily="34" charset="0"/>
                <a:ea typeface="Arial" pitchFamily="34" charset="-122"/>
                <a:cs typeface="Arial" pitchFamily="34" charset="-120"/>
              </a:rPr>
              <a:t>Parent grant ceiling</a:t>
            </a:r>
            <a:endParaRPr lang="en-US" sz="1600" dirty="0"/>
          </a:p>
        </p:txBody>
      </p:sp>
      <p:sp>
        <p:nvSpPr>
          <p:cNvPr id="32" name="Shape 30"/>
          <p:cNvSpPr/>
          <p:nvPr/>
        </p:nvSpPr>
        <p:spPr>
          <a:xfrm>
            <a:off x="10972800" y="4160520"/>
            <a:ext cx="0" cy="786384"/>
          </a:xfrm>
          <a:prstGeom prst="line">
            <a:avLst/>
          </a:prstGeom>
          <a:noFill/>
          <a:ln w="25400">
            <a:solidFill>
              <a:srgbClr val="087E8B"/>
            </a:solidFill>
            <a:prstDash val="solid"/>
            <a:headEnd type="none"/>
            <a:tailEnd type="triangle"/>
          </a:ln>
        </p:spPr>
      </p:sp>
      <p:sp>
        <p:nvSpPr>
          <p:cNvPr id="33" name="Text 31"/>
          <p:cNvSpPr/>
          <p:nvPr/>
        </p:nvSpPr>
        <p:spPr>
          <a:xfrm>
            <a:off x="11201400" y="4352544"/>
            <a:ext cx="2423160" cy="323088"/>
          </a:xfrm>
          <a:prstGeom prst="rect">
            <a:avLst/>
          </a:prstGeom>
          <a:noFill/>
          <a:ln/>
        </p:spPr>
        <p:txBody>
          <a:bodyPr wrap="none" lIns="0" tIns="0" rIns="0" bIns="0" rtlCol="0" anchor="t"/>
          <a:lstStyle/>
          <a:p>
            <a:pPr algn="l" indent="0" marL="0">
              <a:lnSpc>
                <a:spcPct val="123000"/>
              </a:lnSpc>
              <a:buNone/>
            </a:pPr>
            <a:r>
              <a:rPr lang="en-US" sz="1600" dirty="0">
                <a:solidFill>
                  <a:srgbClr val="087E8B"/>
                </a:solidFill>
                <a:latin typeface="Arial" pitchFamily="34" charset="0"/>
                <a:ea typeface="Arial" pitchFamily="34" charset="-122"/>
                <a:cs typeface="Arial" pitchFamily="34" charset="-120"/>
              </a:rPr>
              <a:t>Parent team ceiling</a:t>
            </a:r>
            <a:endParaRPr lang="en-US" sz="1600" dirty="0"/>
          </a:p>
        </p:txBody>
      </p:sp>
      <p:sp>
        <p:nvSpPr>
          <p:cNvPr id="34" name="Text 32"/>
          <p:cNvSpPr/>
          <p:nvPr/>
        </p:nvSpPr>
        <p:spPr>
          <a:xfrm>
            <a:off x="1828800" y="6912864"/>
            <a:ext cx="10972800" cy="416814"/>
          </a:xfrm>
          <a:prstGeom prst="rect">
            <a:avLst/>
          </a:prstGeom>
          <a:noFill/>
          <a:ln/>
        </p:spPr>
        <p:txBody>
          <a:bodyPr wrap="none" lIns="0" tIns="0" rIns="0" bIns="0" rtlCol="0" anchor="t"/>
          <a:lstStyle/>
          <a:p>
            <a:pPr algn="ctr" indent="0" marL="0">
              <a:lnSpc>
                <a:spcPct val="123000"/>
              </a:lnSpc>
              <a:buNone/>
            </a:pPr>
            <a:r>
              <a:rPr lang="en-US" sz="2200" b="1" dirty="0">
                <a:solidFill>
                  <a:srgbClr val="087E8B"/>
                </a:solidFill>
                <a:latin typeface="Arial" pitchFamily="34" charset="0"/>
                <a:ea typeface="Arial" pitchFamily="34" charset="-122"/>
                <a:cs typeface="Arial" pitchFamily="34" charset="-120"/>
              </a:rPr>
              <a:t>Nutan → explicit Team2 membership → valid G2 authority</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DELEGATION</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Proxy authority stays within the human</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Identity names the participants; delegation establishes the dependent authority.</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Direct human-to-proxy delegation only; no proxy-to-proxy chains in v1.</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18</a:t>
            </a:r>
            <a:endParaRPr lang="en-US" sz="1400" dirty="0"/>
          </a:p>
        </p:txBody>
      </p:sp>
      <p:sp>
        <p:nvSpPr>
          <p:cNvPr id="10" name="Shape 8"/>
          <p:cNvSpPr/>
          <p:nvPr/>
        </p:nvSpPr>
        <p:spPr>
          <a:xfrm>
            <a:off x="658368" y="2468880"/>
            <a:ext cx="4315968" cy="4133088"/>
          </a:xfrm>
          <a:prstGeom prst="roundRect">
            <a:avLst>
              <a:gd name="adj" fmla="val 2655"/>
            </a:avLst>
          </a:prstGeom>
          <a:solidFill>
            <a:srgbClr val="FFFFFF"/>
          </a:solidFill>
          <a:ln w="8890">
            <a:solidFill>
              <a:srgbClr val="CCD7E2"/>
            </a:solidFill>
            <a:prstDash val="solid"/>
          </a:ln>
        </p:spPr>
      </p:sp>
      <p:sp>
        <p:nvSpPr>
          <p:cNvPr id="11" name="Shape 9"/>
          <p:cNvSpPr/>
          <p:nvPr/>
        </p:nvSpPr>
        <p:spPr>
          <a:xfrm>
            <a:off x="658368" y="2468880"/>
            <a:ext cx="50292" cy="4133088"/>
          </a:xfrm>
          <a:prstGeom prst="rect">
            <a:avLst/>
          </a:prstGeom>
          <a:solidFill>
            <a:srgbClr val="087E8B"/>
          </a:solidFill>
          <a:ln w="8890">
            <a:solidFill>
              <a:srgbClr val="087E8B"/>
            </a:solidFill>
            <a:prstDash val="solid"/>
          </a:ln>
        </p:spPr>
      </p:sp>
      <p:sp>
        <p:nvSpPr>
          <p:cNvPr id="12" name="Text 10"/>
          <p:cNvSpPr/>
          <p:nvPr/>
        </p:nvSpPr>
        <p:spPr>
          <a:xfrm>
            <a:off x="886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HUMAN CEILING</a:t>
            </a:r>
            <a:endParaRPr lang="en-US" sz="1800" dirty="0"/>
          </a:p>
        </p:txBody>
      </p:sp>
      <p:sp>
        <p:nvSpPr>
          <p:cNvPr id="13" name="Text 11"/>
          <p:cNvSpPr/>
          <p:nvPr/>
        </p:nvSpPr>
        <p:spPr>
          <a:xfrm>
            <a:off x="886968" y="3161538"/>
            <a:ext cx="3858768" cy="854202"/>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Vinay currently has</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read + write.</a:t>
            </a:r>
            <a:endParaRPr lang="en-US" sz="2500" dirty="0"/>
          </a:p>
        </p:txBody>
      </p:sp>
      <p:sp>
        <p:nvSpPr>
          <p:cNvPr id="14" name="Shape 12"/>
          <p:cNvSpPr/>
          <p:nvPr/>
        </p:nvSpPr>
        <p:spPr>
          <a:xfrm>
            <a:off x="5230368" y="2468880"/>
            <a:ext cx="4315968" cy="4133088"/>
          </a:xfrm>
          <a:prstGeom prst="roundRect">
            <a:avLst>
              <a:gd name="adj" fmla="val 2655"/>
            </a:avLst>
          </a:prstGeom>
          <a:solidFill>
            <a:srgbClr val="FFFFFF"/>
          </a:solidFill>
          <a:ln w="8890">
            <a:solidFill>
              <a:srgbClr val="CCD7E2"/>
            </a:solidFill>
            <a:prstDash val="solid"/>
          </a:ln>
        </p:spPr>
      </p:sp>
      <p:sp>
        <p:nvSpPr>
          <p:cNvPr id="15" name="Shape 13"/>
          <p:cNvSpPr/>
          <p:nvPr/>
        </p:nvSpPr>
        <p:spPr>
          <a:xfrm>
            <a:off x="5230368" y="2468880"/>
            <a:ext cx="50292" cy="4133088"/>
          </a:xfrm>
          <a:prstGeom prst="rect">
            <a:avLst/>
          </a:prstGeom>
          <a:solidFill>
            <a:srgbClr val="087E8B"/>
          </a:solidFill>
          <a:ln w="8890">
            <a:solidFill>
              <a:srgbClr val="087E8B"/>
            </a:solidFill>
            <a:prstDash val="solid"/>
          </a:ln>
        </p:spPr>
      </p:sp>
      <p:sp>
        <p:nvSpPr>
          <p:cNvPr id="16" name="Text 14"/>
          <p:cNvSpPr/>
          <p:nvPr/>
        </p:nvSpPr>
        <p:spPr>
          <a:xfrm>
            <a:off x="5458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DELEGATION LIMIT</a:t>
            </a:r>
            <a:endParaRPr lang="en-US" sz="1800" dirty="0"/>
          </a:p>
        </p:txBody>
      </p:sp>
      <p:sp>
        <p:nvSpPr>
          <p:cNvPr id="17" name="Text 15"/>
          <p:cNvSpPr/>
          <p:nvPr/>
        </p:nvSpPr>
        <p:spPr>
          <a:xfrm>
            <a:off x="5458968" y="3161538"/>
            <a:ext cx="3858768" cy="854202"/>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A-17 is permitted read</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only.</a:t>
            </a:r>
            <a:endParaRPr lang="en-US" sz="2500" dirty="0"/>
          </a:p>
        </p:txBody>
      </p:sp>
      <p:sp>
        <p:nvSpPr>
          <p:cNvPr id="18" name="Shape 16"/>
          <p:cNvSpPr/>
          <p:nvPr/>
        </p:nvSpPr>
        <p:spPr>
          <a:xfrm>
            <a:off x="9802368" y="2468880"/>
            <a:ext cx="4315968" cy="4133088"/>
          </a:xfrm>
          <a:prstGeom prst="roundRect">
            <a:avLst>
              <a:gd name="adj" fmla="val 2655"/>
            </a:avLst>
          </a:prstGeom>
          <a:solidFill>
            <a:srgbClr val="FFFFFF"/>
          </a:solidFill>
          <a:ln w="8890">
            <a:solidFill>
              <a:srgbClr val="CCD7E2"/>
            </a:solidFill>
            <a:prstDash val="solid"/>
          </a:ln>
        </p:spPr>
      </p:sp>
      <p:sp>
        <p:nvSpPr>
          <p:cNvPr id="19" name="Shape 17"/>
          <p:cNvSpPr/>
          <p:nvPr/>
        </p:nvSpPr>
        <p:spPr>
          <a:xfrm>
            <a:off x="9802368" y="2468880"/>
            <a:ext cx="50292" cy="4133088"/>
          </a:xfrm>
          <a:prstGeom prst="rect">
            <a:avLst/>
          </a:prstGeom>
          <a:solidFill>
            <a:srgbClr val="087E8B"/>
          </a:solidFill>
          <a:ln w="8890">
            <a:solidFill>
              <a:srgbClr val="087E8B"/>
            </a:solidFill>
            <a:prstDash val="solid"/>
          </a:ln>
        </p:spPr>
      </p:sp>
      <p:sp>
        <p:nvSpPr>
          <p:cNvPr id="20" name="Text 18"/>
          <p:cNvSpPr/>
          <p:nvPr/>
        </p:nvSpPr>
        <p:spPr>
          <a:xfrm>
            <a:off x="10030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EFFECTIVE PROXY</a:t>
            </a:r>
            <a:endParaRPr lang="en-US" sz="1800" dirty="0"/>
          </a:p>
        </p:txBody>
      </p:sp>
      <p:sp>
        <p:nvSpPr>
          <p:cNvPr id="21" name="Text 19"/>
          <p:cNvSpPr/>
          <p:nvPr/>
        </p:nvSpPr>
        <p:spPr>
          <a:xfrm>
            <a:off x="10030968" y="3161538"/>
            <a:ext cx="3858768" cy="2025777"/>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A-17 can read, not</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write.</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Losing Vinay’s read</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support removes that</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route.</a:t>
            </a:r>
            <a:endParaRPr lang="en-US" sz="2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LIFECYCLE</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Enabled does not mean effective</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Assignment and grant controls answer different questions.</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An enabled assignment cannot override a disabled grant.</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19</a:t>
            </a:r>
            <a:endParaRPr lang="en-US" sz="1400" dirty="0"/>
          </a:p>
        </p:txBody>
      </p:sp>
      <p:sp>
        <p:nvSpPr>
          <p:cNvPr id="10" name="Text 8"/>
          <p:cNvSpPr/>
          <p:nvPr/>
        </p:nvSpPr>
        <p:spPr>
          <a:xfrm>
            <a:off x="658368" y="2404872"/>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Grant control</a:t>
            </a:r>
            <a:endParaRPr lang="en-US" sz="2200" dirty="0"/>
          </a:p>
        </p:txBody>
      </p:sp>
      <p:sp>
        <p:nvSpPr>
          <p:cNvPr id="11" name="Text 9"/>
          <p:cNvSpPr/>
          <p:nvPr/>
        </p:nvSpPr>
        <p:spPr>
          <a:xfrm>
            <a:off x="658368" y="2867406"/>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Disabling G2 withdraws all</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routes through G2.</a:t>
            </a:r>
            <a:endParaRPr lang="en-US" sz="2200" dirty="0"/>
          </a:p>
        </p:txBody>
      </p:sp>
      <p:sp>
        <p:nvSpPr>
          <p:cNvPr id="12" name="Text 10"/>
          <p:cNvSpPr/>
          <p:nvPr/>
        </p:nvSpPr>
        <p:spPr>
          <a:xfrm>
            <a:off x="658368" y="3920490"/>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Assignment control</a:t>
            </a:r>
            <a:endParaRPr lang="en-US" sz="2200" dirty="0"/>
          </a:p>
        </p:txBody>
      </p:sp>
      <p:sp>
        <p:nvSpPr>
          <p:cNvPr id="13" name="Text 11"/>
          <p:cNvSpPr/>
          <p:nvPr/>
        </p:nvSpPr>
        <p:spPr>
          <a:xfrm>
            <a:off x="658368" y="4383024"/>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Disabling A2 affects that</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recipient binding.</a:t>
            </a:r>
            <a:endParaRPr lang="en-US" sz="2200" dirty="0"/>
          </a:p>
        </p:txBody>
      </p:sp>
      <p:sp>
        <p:nvSpPr>
          <p:cNvPr id="14" name="Text 12"/>
          <p:cNvSpPr/>
          <p:nvPr/>
        </p:nvSpPr>
        <p:spPr>
          <a:xfrm>
            <a:off x="658368" y="5436108"/>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Effective authority</a:t>
            </a:r>
            <a:endParaRPr lang="en-US" sz="2200" dirty="0"/>
          </a:p>
        </p:txBody>
      </p:sp>
      <p:sp>
        <p:nvSpPr>
          <p:cNvPr id="15" name="Text 13"/>
          <p:cNvSpPr/>
          <p:nvPr/>
        </p:nvSpPr>
        <p:spPr>
          <a:xfrm>
            <a:off x="658368" y="5898642"/>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Controls, support and</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constraints must all pass.</a:t>
            </a:r>
            <a:endParaRPr lang="en-US" sz="2200" dirty="0"/>
          </a:p>
        </p:txBody>
      </p:sp>
      <p:sp>
        <p:nvSpPr>
          <p:cNvPr id="16" name="Shape 14"/>
          <p:cNvSpPr/>
          <p:nvPr/>
        </p:nvSpPr>
        <p:spPr>
          <a:xfrm>
            <a:off x="5806440" y="2286000"/>
            <a:ext cx="8229600" cy="5029200"/>
          </a:xfrm>
          <a:prstGeom prst="roundRect">
            <a:avLst>
              <a:gd name="adj" fmla="val 2182"/>
            </a:avLst>
          </a:prstGeom>
          <a:solidFill>
            <a:srgbClr val="14263D"/>
          </a:solidFill>
          <a:ln w="8890">
            <a:solidFill>
              <a:srgbClr val="14263D"/>
            </a:solidFill>
            <a:prstDash val="solid"/>
          </a:ln>
        </p:spPr>
      </p:sp>
      <p:sp>
        <p:nvSpPr>
          <p:cNvPr id="17" name="Text 15"/>
          <p:cNvSpPr/>
          <p:nvPr/>
        </p:nvSpPr>
        <p:spPr>
          <a:xfrm>
            <a:off x="6062472" y="246888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APPROVED GRANT-WIDE CONTROL</a:t>
            </a:r>
            <a:endParaRPr lang="en-US" sz="1100" dirty="0"/>
          </a:p>
        </p:txBody>
      </p:sp>
      <p:sp>
        <p:nvSpPr>
          <p:cNvPr id="18" name="Text 16"/>
          <p:cNvSpPr/>
          <p:nvPr/>
        </p:nvSpPr>
        <p:spPr>
          <a:xfrm>
            <a:off x="6062472" y="289864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9" name="Text 17"/>
          <p:cNvSpPr/>
          <p:nvPr/>
        </p:nvSpPr>
        <p:spPr>
          <a:xfrm>
            <a:off x="6062472" y="316382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0" name="Text 18"/>
          <p:cNvSpPr/>
          <p:nvPr/>
        </p:nvSpPr>
        <p:spPr>
          <a:xfrm>
            <a:off x="6062472" y="342900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"id": "G2",</a:t>
            </a:r>
            <a:endParaRPr lang="en-US" sz="1700" dirty="0"/>
          </a:p>
        </p:txBody>
      </p:sp>
      <p:sp>
        <p:nvSpPr>
          <p:cNvPr id="21" name="Text 19"/>
          <p:cNvSpPr/>
          <p:nvPr/>
        </p:nvSpPr>
        <p:spPr>
          <a:xfrm>
            <a:off x="6062472" y="369417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"status": "disabled"</a:t>
            </a:r>
            <a:endParaRPr lang="en-US" sz="1700" dirty="0"/>
          </a:p>
        </p:txBody>
      </p:sp>
      <p:sp>
        <p:nvSpPr>
          <p:cNvPr id="22" name="Text 20"/>
          <p:cNvSpPr/>
          <p:nvPr/>
        </p:nvSpPr>
        <p:spPr>
          <a:xfrm>
            <a:off x="6062472" y="395935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LIFECYCLE</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Validity limits when authority applies</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An expiry is a time boundary—not a new permission or scope key.</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Re-enabling does not reset expiry. Assignment-specific windows are deferred.</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20</a:t>
            </a:r>
            <a:endParaRPr lang="en-US" sz="1400" dirty="0"/>
          </a:p>
        </p:txBody>
      </p:sp>
      <p:sp>
        <p:nvSpPr>
          <p:cNvPr id="10" name="Text 8"/>
          <p:cNvSpPr/>
          <p:nvPr/>
        </p:nvSpPr>
        <p:spPr>
          <a:xfrm>
            <a:off x="658368" y="2404872"/>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expires_at</a:t>
            </a:r>
            <a:endParaRPr lang="en-US" sz="2200" dirty="0"/>
          </a:p>
        </p:txBody>
      </p:sp>
      <p:sp>
        <p:nvSpPr>
          <p:cNvPr id="11" name="Text 9"/>
          <p:cNvSpPr/>
          <p:nvPr/>
        </p:nvSpPr>
        <p:spPr>
          <a:xfrm>
            <a:off x="658368" y="2867406"/>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exclusive end of the</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validity window.</a:t>
            </a:r>
            <a:endParaRPr lang="en-US" sz="2200" dirty="0"/>
          </a:p>
        </p:txBody>
      </p:sp>
      <p:sp>
        <p:nvSpPr>
          <p:cNvPr id="12" name="Text 10"/>
          <p:cNvSpPr/>
          <p:nvPr/>
        </p:nvSpPr>
        <p:spPr>
          <a:xfrm>
            <a:off x="658368" y="3920490"/>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not_before</a:t>
            </a:r>
            <a:endParaRPr lang="en-US" sz="2200" dirty="0"/>
          </a:p>
        </p:txBody>
      </p:sp>
      <p:sp>
        <p:nvSpPr>
          <p:cNvPr id="13" name="Text 11"/>
          <p:cNvSpPr/>
          <p:nvPr/>
        </p:nvSpPr>
        <p:spPr>
          <a:xfrm>
            <a:off x="658368" y="4383024"/>
            <a:ext cx="4681728" cy="416814"/>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An optional inclusive start.</a:t>
            </a:r>
            <a:endParaRPr lang="en-US" sz="2200" dirty="0"/>
          </a:p>
        </p:txBody>
      </p:sp>
      <p:sp>
        <p:nvSpPr>
          <p:cNvPr id="14" name="Text 12"/>
          <p:cNvSpPr/>
          <p:nvPr/>
        </p:nvSpPr>
        <p:spPr>
          <a:xfrm>
            <a:off x="658368" y="5092446"/>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Parent limits</a:t>
            </a:r>
            <a:endParaRPr lang="en-US" sz="2200" dirty="0"/>
          </a:p>
        </p:txBody>
      </p:sp>
      <p:sp>
        <p:nvSpPr>
          <p:cNvPr id="15" name="Text 13"/>
          <p:cNvSpPr/>
          <p:nvPr/>
        </p:nvSpPr>
        <p:spPr>
          <a:xfrm>
            <a:off x="658368" y="5554980"/>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A local window cannot outlive</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required support.</a:t>
            </a:r>
            <a:endParaRPr lang="en-US" sz="2200" dirty="0"/>
          </a:p>
        </p:txBody>
      </p:sp>
      <p:sp>
        <p:nvSpPr>
          <p:cNvPr id="16" name="Shape 14"/>
          <p:cNvSpPr/>
          <p:nvPr/>
        </p:nvSpPr>
        <p:spPr>
          <a:xfrm>
            <a:off x="5806440" y="2286000"/>
            <a:ext cx="8229600" cy="5029200"/>
          </a:xfrm>
          <a:prstGeom prst="roundRect">
            <a:avLst>
              <a:gd name="adj" fmla="val 2182"/>
            </a:avLst>
          </a:prstGeom>
          <a:solidFill>
            <a:srgbClr val="14263D"/>
          </a:solidFill>
          <a:ln w="8890">
            <a:solidFill>
              <a:srgbClr val="14263D"/>
            </a:solidFill>
            <a:prstDash val="solid"/>
          </a:ln>
        </p:spPr>
      </p:sp>
      <p:sp>
        <p:nvSpPr>
          <p:cNvPr id="17" name="Text 15"/>
          <p:cNvSpPr/>
          <p:nvPr/>
        </p:nvSpPr>
        <p:spPr>
          <a:xfrm>
            <a:off x="6062472" y="246888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APPROVED GRANT VALIDITY PLACEMENT</a:t>
            </a:r>
            <a:endParaRPr lang="en-US" sz="1100" dirty="0"/>
          </a:p>
        </p:txBody>
      </p:sp>
      <p:sp>
        <p:nvSpPr>
          <p:cNvPr id="18" name="Text 16"/>
          <p:cNvSpPr/>
          <p:nvPr/>
        </p:nvSpPr>
        <p:spPr>
          <a:xfrm>
            <a:off x="6062472" y="289864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9" name="Text 17"/>
          <p:cNvSpPr/>
          <p:nvPr/>
        </p:nvSpPr>
        <p:spPr>
          <a:xfrm>
            <a:off x="6062472" y="316382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0" name="Text 18"/>
          <p:cNvSpPr/>
          <p:nvPr/>
        </p:nvSpPr>
        <p:spPr>
          <a:xfrm>
            <a:off x="6062472" y="342900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"grant_id": "G-TEMP-READER",</a:t>
            </a:r>
            <a:endParaRPr lang="en-US" sz="1700" dirty="0"/>
          </a:p>
        </p:txBody>
      </p:sp>
      <p:sp>
        <p:nvSpPr>
          <p:cNvPr id="21" name="Text 19"/>
          <p:cNvSpPr/>
          <p:nvPr/>
        </p:nvSpPr>
        <p:spPr>
          <a:xfrm>
            <a:off x="6062472" y="369417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A3B2C3"/>
                </a:solidFill>
                <a:latin typeface="Courier New" pitchFamily="34" charset="0"/>
                <a:ea typeface="Courier New" pitchFamily="34" charset="-122"/>
                <a:cs typeface="Courier New" pitchFamily="34" charset="-120"/>
              </a:rPr>
              <a:t>  "revision": 1,</a:t>
            </a:r>
            <a:endParaRPr lang="en-US" sz="1700" dirty="0"/>
          </a:p>
        </p:txBody>
      </p:sp>
      <p:sp>
        <p:nvSpPr>
          <p:cNvPr id="22" name="Text 20"/>
          <p:cNvSpPr/>
          <p:nvPr/>
        </p:nvSpPr>
        <p:spPr>
          <a:xfrm>
            <a:off x="6062472" y="395935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"parent_grant_id": "G1",</a:t>
            </a:r>
            <a:endParaRPr lang="en-US" sz="1700" dirty="0"/>
          </a:p>
        </p:txBody>
      </p:sp>
      <p:sp>
        <p:nvSpPr>
          <p:cNvPr id="23" name="Text 21"/>
          <p:cNvSpPr/>
          <p:nvPr/>
        </p:nvSpPr>
        <p:spPr>
          <a:xfrm>
            <a:off x="6062472" y="422452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"permissions": [</a:t>
            </a:r>
            <a:endParaRPr lang="en-US" sz="1700" dirty="0"/>
          </a:p>
        </p:txBody>
      </p:sp>
      <p:sp>
        <p:nvSpPr>
          <p:cNvPr id="24" name="Text 22"/>
          <p:cNvSpPr/>
          <p:nvPr/>
        </p:nvSpPr>
        <p:spPr>
          <a:xfrm>
            <a:off x="6062472" y="448970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"hrms:employee:certificate::read"</a:t>
            </a:r>
            <a:endParaRPr lang="en-US" sz="1700" dirty="0"/>
          </a:p>
        </p:txBody>
      </p:sp>
      <p:sp>
        <p:nvSpPr>
          <p:cNvPr id="25" name="Text 23"/>
          <p:cNvSpPr/>
          <p:nvPr/>
        </p:nvSpPr>
        <p:spPr>
          <a:xfrm>
            <a:off x="6062472" y="475488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a:t>
            </a:r>
            <a:endParaRPr lang="en-US" sz="1700" dirty="0"/>
          </a:p>
        </p:txBody>
      </p:sp>
      <p:sp>
        <p:nvSpPr>
          <p:cNvPr id="26" name="Text 24"/>
          <p:cNvSpPr/>
          <p:nvPr/>
        </p:nvSpPr>
        <p:spPr>
          <a:xfrm>
            <a:off x="6062472" y="502005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"scope": {"cert": "C17"},</a:t>
            </a:r>
            <a:endParaRPr lang="en-US" sz="1700" dirty="0"/>
          </a:p>
        </p:txBody>
      </p:sp>
      <p:sp>
        <p:nvSpPr>
          <p:cNvPr id="27" name="Text 25"/>
          <p:cNvSpPr/>
          <p:nvPr/>
        </p:nvSpPr>
        <p:spPr>
          <a:xfrm>
            <a:off x="6062472" y="528523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"validity": {"expires_at": "2026-09-30T00:00:00Z"}</a:t>
            </a:r>
            <a:endParaRPr lang="en-US" sz="1700" dirty="0"/>
          </a:p>
        </p:txBody>
      </p:sp>
      <p:sp>
        <p:nvSpPr>
          <p:cNvPr id="28" name="Text 26"/>
          <p:cNvSpPr/>
          <p:nvPr/>
        </p:nvSpPr>
        <p:spPr>
          <a:xfrm>
            <a:off x="6062472" y="555040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LIFECYCLE</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An orphan has lost required support</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Orphaning describes an affected route—not an invented status field.</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No automatic deletion, new parent, or authority repair.</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21</a:t>
            </a:r>
            <a:endParaRPr lang="en-US" sz="1400" dirty="0"/>
          </a:p>
        </p:txBody>
      </p:sp>
      <p:sp>
        <p:nvSpPr>
          <p:cNvPr id="10" name="Shape 8"/>
          <p:cNvSpPr/>
          <p:nvPr/>
        </p:nvSpPr>
        <p:spPr>
          <a:xfrm>
            <a:off x="658368" y="2468880"/>
            <a:ext cx="4315968" cy="4133088"/>
          </a:xfrm>
          <a:prstGeom prst="roundRect">
            <a:avLst>
              <a:gd name="adj" fmla="val 2655"/>
            </a:avLst>
          </a:prstGeom>
          <a:solidFill>
            <a:srgbClr val="FFFFFF"/>
          </a:solidFill>
          <a:ln w="8890">
            <a:solidFill>
              <a:srgbClr val="CCD7E2"/>
            </a:solidFill>
            <a:prstDash val="solid"/>
          </a:ln>
        </p:spPr>
      </p:sp>
      <p:sp>
        <p:nvSpPr>
          <p:cNvPr id="11" name="Shape 9"/>
          <p:cNvSpPr/>
          <p:nvPr/>
        </p:nvSpPr>
        <p:spPr>
          <a:xfrm>
            <a:off x="658368" y="2468880"/>
            <a:ext cx="50292" cy="4133088"/>
          </a:xfrm>
          <a:prstGeom prst="rect">
            <a:avLst/>
          </a:prstGeom>
          <a:solidFill>
            <a:srgbClr val="087E8B"/>
          </a:solidFill>
          <a:ln w="8890">
            <a:solidFill>
              <a:srgbClr val="087E8B"/>
            </a:solidFill>
            <a:prstDash val="solid"/>
          </a:ln>
        </p:spPr>
      </p:sp>
      <p:sp>
        <p:nvSpPr>
          <p:cNvPr id="12" name="Text 10"/>
          <p:cNvSpPr/>
          <p:nvPr/>
        </p:nvSpPr>
        <p:spPr>
          <a:xfrm>
            <a:off x="886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ORPHAN</a:t>
            </a:r>
            <a:endParaRPr lang="en-US" sz="1800" dirty="0"/>
          </a:p>
        </p:txBody>
      </p:sp>
      <p:sp>
        <p:nvSpPr>
          <p:cNvPr id="13" name="Text 11"/>
          <p:cNvSpPr/>
          <p:nvPr/>
        </p:nvSpPr>
        <p:spPr>
          <a:xfrm>
            <a:off x="886968" y="3161538"/>
            <a:ext cx="3858768" cy="2025777"/>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Required parent support</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no longer exists.</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That lineage and</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dependent descendants</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are ineffective.</a:t>
            </a:r>
            <a:endParaRPr lang="en-US" sz="2500" dirty="0"/>
          </a:p>
        </p:txBody>
      </p:sp>
      <p:sp>
        <p:nvSpPr>
          <p:cNvPr id="14" name="Shape 12"/>
          <p:cNvSpPr/>
          <p:nvPr/>
        </p:nvSpPr>
        <p:spPr>
          <a:xfrm>
            <a:off x="5230368" y="2468880"/>
            <a:ext cx="4315968" cy="4133088"/>
          </a:xfrm>
          <a:prstGeom prst="roundRect">
            <a:avLst>
              <a:gd name="adj" fmla="val 2655"/>
            </a:avLst>
          </a:prstGeom>
          <a:solidFill>
            <a:srgbClr val="FFFFFF"/>
          </a:solidFill>
          <a:ln w="8890">
            <a:solidFill>
              <a:srgbClr val="CCD7E2"/>
            </a:solidFill>
            <a:prstDash val="solid"/>
          </a:ln>
        </p:spPr>
      </p:sp>
      <p:sp>
        <p:nvSpPr>
          <p:cNvPr id="15" name="Shape 13"/>
          <p:cNvSpPr/>
          <p:nvPr/>
        </p:nvSpPr>
        <p:spPr>
          <a:xfrm>
            <a:off x="5230368" y="2468880"/>
            <a:ext cx="50292" cy="4133088"/>
          </a:xfrm>
          <a:prstGeom prst="rect">
            <a:avLst/>
          </a:prstGeom>
          <a:solidFill>
            <a:srgbClr val="087E8B"/>
          </a:solidFill>
          <a:ln w="8890">
            <a:solidFill>
              <a:srgbClr val="087E8B"/>
            </a:solidFill>
            <a:prstDash val="solid"/>
          </a:ln>
        </p:spPr>
      </p:sp>
      <p:sp>
        <p:nvSpPr>
          <p:cNvPr id="16" name="Text 14"/>
          <p:cNvSpPr/>
          <p:nvPr/>
        </p:nvSpPr>
        <p:spPr>
          <a:xfrm>
            <a:off x="5458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NOT AN ORPHAN</a:t>
            </a:r>
            <a:endParaRPr lang="en-US" sz="1800" dirty="0"/>
          </a:p>
        </p:txBody>
      </p:sp>
      <p:sp>
        <p:nvSpPr>
          <p:cNvPr id="17" name="Text 15"/>
          <p:cNvSpPr/>
          <p:nvPr/>
        </p:nvSpPr>
        <p:spPr>
          <a:xfrm>
            <a:off x="5458968" y="3161538"/>
            <a:ext cx="3858768" cy="1635252"/>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A legitimate root; an</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unassigned definition;</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merely disabled or</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expired support.</a:t>
            </a:r>
            <a:endParaRPr lang="en-US" sz="2500" dirty="0"/>
          </a:p>
        </p:txBody>
      </p:sp>
      <p:sp>
        <p:nvSpPr>
          <p:cNvPr id="18" name="Shape 16"/>
          <p:cNvSpPr/>
          <p:nvPr/>
        </p:nvSpPr>
        <p:spPr>
          <a:xfrm>
            <a:off x="9802368" y="2468880"/>
            <a:ext cx="4315968" cy="4133088"/>
          </a:xfrm>
          <a:prstGeom prst="roundRect">
            <a:avLst>
              <a:gd name="adj" fmla="val 2655"/>
            </a:avLst>
          </a:prstGeom>
          <a:solidFill>
            <a:srgbClr val="FFFFFF"/>
          </a:solidFill>
          <a:ln w="8890">
            <a:solidFill>
              <a:srgbClr val="CCD7E2"/>
            </a:solidFill>
            <a:prstDash val="solid"/>
          </a:ln>
        </p:spPr>
      </p:sp>
      <p:sp>
        <p:nvSpPr>
          <p:cNvPr id="19" name="Shape 17"/>
          <p:cNvSpPr/>
          <p:nvPr/>
        </p:nvSpPr>
        <p:spPr>
          <a:xfrm>
            <a:off x="9802368" y="2468880"/>
            <a:ext cx="50292" cy="4133088"/>
          </a:xfrm>
          <a:prstGeom prst="rect">
            <a:avLst/>
          </a:prstGeom>
          <a:solidFill>
            <a:srgbClr val="087E8B"/>
          </a:solidFill>
          <a:ln w="8890">
            <a:solidFill>
              <a:srgbClr val="087E8B"/>
            </a:solidFill>
            <a:prstDash val="solid"/>
          </a:ln>
        </p:spPr>
      </p:sp>
      <p:sp>
        <p:nvSpPr>
          <p:cNvPr id="20" name="Text 18"/>
          <p:cNvSpPr/>
          <p:nvPr/>
        </p:nvSpPr>
        <p:spPr>
          <a:xfrm>
            <a:off x="10030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NOT PROVEN</a:t>
            </a:r>
            <a:endParaRPr lang="en-US" sz="1800" dirty="0"/>
          </a:p>
        </p:txBody>
      </p:sp>
      <p:sp>
        <p:nvSpPr>
          <p:cNvPr id="21" name="Text 19"/>
          <p:cNvSpPr/>
          <p:nvPr/>
        </p:nvSpPr>
        <p:spPr>
          <a:xfrm>
            <a:off x="10030968" y="3161538"/>
            <a:ext cx="3858768" cy="2025777"/>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An Auth timeout means</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evidence is</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unavailable.</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It does not prove that</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support was deleted.</a:t>
            </a:r>
            <a:endParaRPr lang="en-US" sz="2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REGISTRATION &amp; ROOTS</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Register meanings, then establish authority</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A catalog is not a grant, and registration is not business access.</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Ordinary grants cannot become roots by simply omitting their parent.</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22</a:t>
            </a:r>
            <a:endParaRPr lang="en-US" sz="1400" dirty="0"/>
          </a:p>
        </p:txBody>
      </p:sp>
      <p:sp>
        <p:nvSpPr>
          <p:cNvPr id="10" name="Shape 8"/>
          <p:cNvSpPr/>
          <p:nvPr/>
        </p:nvSpPr>
        <p:spPr>
          <a:xfrm>
            <a:off x="658368" y="2880360"/>
            <a:ext cx="3127248" cy="3035808"/>
          </a:xfrm>
          <a:prstGeom prst="roundRect">
            <a:avLst>
              <a:gd name="adj" fmla="val 3614"/>
            </a:avLst>
          </a:prstGeom>
          <a:solidFill>
            <a:srgbClr val="FFFFFF"/>
          </a:solidFill>
          <a:ln w="8890">
            <a:solidFill>
              <a:srgbClr val="CCD7E2"/>
            </a:solidFill>
            <a:prstDash val="solid"/>
          </a:ln>
        </p:spPr>
      </p:sp>
      <p:sp>
        <p:nvSpPr>
          <p:cNvPr id="11" name="Shape 9"/>
          <p:cNvSpPr/>
          <p:nvPr/>
        </p:nvSpPr>
        <p:spPr>
          <a:xfrm>
            <a:off x="658368" y="2880360"/>
            <a:ext cx="50292" cy="3035808"/>
          </a:xfrm>
          <a:prstGeom prst="rect">
            <a:avLst/>
          </a:prstGeom>
          <a:solidFill>
            <a:srgbClr val="087E8B"/>
          </a:solidFill>
          <a:ln w="8890">
            <a:solidFill>
              <a:srgbClr val="087E8B"/>
            </a:solidFill>
            <a:prstDash val="solid"/>
          </a:ln>
        </p:spPr>
      </p:sp>
      <p:sp>
        <p:nvSpPr>
          <p:cNvPr id="12" name="Text 10"/>
          <p:cNvSpPr/>
          <p:nvPr/>
        </p:nvSpPr>
        <p:spPr>
          <a:xfrm>
            <a:off x="886968" y="3108960"/>
            <a:ext cx="267004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REGISTER</a:t>
            </a:r>
            <a:endParaRPr lang="en-US" sz="1800" dirty="0"/>
          </a:p>
        </p:txBody>
      </p:sp>
      <p:sp>
        <p:nvSpPr>
          <p:cNvPr id="13" name="Text 11"/>
          <p:cNvSpPr/>
          <p:nvPr/>
        </p:nvSpPr>
        <p:spPr>
          <a:xfrm>
            <a:off x="886968" y="3573018"/>
            <a:ext cx="2670048" cy="1151001"/>
          </a:xfrm>
          <a:prstGeom prst="rect">
            <a:avLst/>
          </a:prstGeom>
          <a:noFill/>
          <a:ln/>
        </p:spPr>
        <p:txBody>
          <a:bodyPr wrap="none" lIns="0" tIns="0" rIns="0" bIns="0" rtlCol="0" anchor="t"/>
          <a:lstStyle/>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Application</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permissions +</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scope definitions</a:t>
            </a:r>
            <a:endParaRPr lang="en-US" sz="2300" dirty="0"/>
          </a:p>
        </p:txBody>
      </p:sp>
      <p:sp>
        <p:nvSpPr>
          <p:cNvPr id="14" name="Shape 12"/>
          <p:cNvSpPr/>
          <p:nvPr/>
        </p:nvSpPr>
        <p:spPr>
          <a:xfrm>
            <a:off x="3840480" y="4389120"/>
            <a:ext cx="210312" cy="0"/>
          </a:xfrm>
          <a:prstGeom prst="line">
            <a:avLst/>
          </a:prstGeom>
          <a:noFill/>
          <a:ln w="25400">
            <a:solidFill>
              <a:srgbClr val="087E8B"/>
            </a:solidFill>
            <a:prstDash val="solid"/>
            <a:headEnd type="none"/>
            <a:tailEnd type="triangle"/>
          </a:ln>
        </p:spPr>
      </p:sp>
      <p:sp>
        <p:nvSpPr>
          <p:cNvPr id="15" name="Shape 13"/>
          <p:cNvSpPr/>
          <p:nvPr/>
        </p:nvSpPr>
        <p:spPr>
          <a:xfrm>
            <a:off x="4123944" y="2880360"/>
            <a:ext cx="3127248" cy="3035808"/>
          </a:xfrm>
          <a:prstGeom prst="roundRect">
            <a:avLst>
              <a:gd name="adj" fmla="val 3614"/>
            </a:avLst>
          </a:prstGeom>
          <a:solidFill>
            <a:srgbClr val="FFFFFF"/>
          </a:solidFill>
          <a:ln w="8890">
            <a:solidFill>
              <a:srgbClr val="CCD7E2"/>
            </a:solidFill>
            <a:prstDash val="solid"/>
          </a:ln>
        </p:spPr>
      </p:sp>
      <p:sp>
        <p:nvSpPr>
          <p:cNvPr id="16" name="Shape 14"/>
          <p:cNvSpPr/>
          <p:nvPr/>
        </p:nvSpPr>
        <p:spPr>
          <a:xfrm>
            <a:off x="4123944" y="2880360"/>
            <a:ext cx="50292" cy="3035808"/>
          </a:xfrm>
          <a:prstGeom prst="rect">
            <a:avLst/>
          </a:prstGeom>
          <a:solidFill>
            <a:srgbClr val="087E8B"/>
          </a:solidFill>
          <a:ln w="8890">
            <a:solidFill>
              <a:srgbClr val="087E8B"/>
            </a:solidFill>
            <a:prstDash val="solid"/>
          </a:ln>
        </p:spPr>
      </p:sp>
      <p:sp>
        <p:nvSpPr>
          <p:cNvPr id="17" name="Text 15"/>
          <p:cNvSpPr/>
          <p:nvPr/>
        </p:nvSpPr>
        <p:spPr>
          <a:xfrm>
            <a:off x="4352544" y="3108960"/>
            <a:ext cx="267004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VALIDATE</a:t>
            </a:r>
            <a:endParaRPr lang="en-US" sz="1800" dirty="0"/>
          </a:p>
        </p:txBody>
      </p:sp>
      <p:sp>
        <p:nvSpPr>
          <p:cNvPr id="18" name="Text 16"/>
          <p:cNvSpPr/>
          <p:nvPr/>
        </p:nvSpPr>
        <p:spPr>
          <a:xfrm>
            <a:off x="4352544" y="3573018"/>
            <a:ext cx="2670048" cy="1151001"/>
          </a:xfrm>
          <a:prstGeom prst="rect">
            <a:avLst/>
          </a:prstGeom>
          <a:noFill/>
          <a:ln/>
        </p:spPr>
        <p:txBody>
          <a:bodyPr wrap="none" lIns="0" tIns="0" rIns="0" bIns="0" rtlCol="0" anchor="t"/>
          <a:lstStyle/>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Syntax, declared</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compatibility and</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authority bounds</a:t>
            </a:r>
            <a:endParaRPr lang="en-US" sz="2300" dirty="0"/>
          </a:p>
        </p:txBody>
      </p:sp>
      <p:sp>
        <p:nvSpPr>
          <p:cNvPr id="19" name="Shape 17"/>
          <p:cNvSpPr/>
          <p:nvPr/>
        </p:nvSpPr>
        <p:spPr>
          <a:xfrm>
            <a:off x="7306056" y="4389120"/>
            <a:ext cx="210312" cy="0"/>
          </a:xfrm>
          <a:prstGeom prst="line">
            <a:avLst/>
          </a:prstGeom>
          <a:noFill/>
          <a:ln w="25400">
            <a:solidFill>
              <a:srgbClr val="087E8B"/>
            </a:solidFill>
            <a:prstDash val="solid"/>
            <a:headEnd type="none"/>
            <a:tailEnd type="triangle"/>
          </a:ln>
        </p:spPr>
      </p:sp>
      <p:sp>
        <p:nvSpPr>
          <p:cNvPr id="20" name="Shape 18"/>
          <p:cNvSpPr/>
          <p:nvPr/>
        </p:nvSpPr>
        <p:spPr>
          <a:xfrm>
            <a:off x="7589520" y="2880360"/>
            <a:ext cx="3127248" cy="3035808"/>
          </a:xfrm>
          <a:prstGeom prst="roundRect">
            <a:avLst>
              <a:gd name="adj" fmla="val 3614"/>
            </a:avLst>
          </a:prstGeom>
          <a:solidFill>
            <a:srgbClr val="FFFFFF"/>
          </a:solidFill>
          <a:ln w="8890">
            <a:solidFill>
              <a:srgbClr val="CCD7E2"/>
            </a:solidFill>
            <a:prstDash val="solid"/>
          </a:ln>
        </p:spPr>
      </p:sp>
      <p:sp>
        <p:nvSpPr>
          <p:cNvPr id="21" name="Shape 19"/>
          <p:cNvSpPr/>
          <p:nvPr/>
        </p:nvSpPr>
        <p:spPr>
          <a:xfrm>
            <a:off x="7589520" y="2880360"/>
            <a:ext cx="50292" cy="3035808"/>
          </a:xfrm>
          <a:prstGeom prst="rect">
            <a:avLst/>
          </a:prstGeom>
          <a:solidFill>
            <a:srgbClr val="087E8B"/>
          </a:solidFill>
          <a:ln w="8890">
            <a:solidFill>
              <a:srgbClr val="087E8B"/>
            </a:solidFill>
            <a:prstDash val="solid"/>
          </a:ln>
        </p:spPr>
      </p:sp>
      <p:sp>
        <p:nvSpPr>
          <p:cNvPr id="22" name="Text 20"/>
          <p:cNvSpPr/>
          <p:nvPr/>
        </p:nvSpPr>
        <p:spPr>
          <a:xfrm>
            <a:off x="7818120" y="3108960"/>
            <a:ext cx="267004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BOOTSTRAP</a:t>
            </a:r>
            <a:endParaRPr lang="en-US" sz="1800" dirty="0"/>
          </a:p>
        </p:txBody>
      </p:sp>
      <p:sp>
        <p:nvSpPr>
          <p:cNvPr id="23" name="Text 21"/>
          <p:cNvSpPr/>
          <p:nvPr/>
        </p:nvSpPr>
        <p:spPr>
          <a:xfrm>
            <a:off x="7818120" y="3573018"/>
            <a:ext cx="2670048" cy="1510284"/>
          </a:xfrm>
          <a:prstGeom prst="rect">
            <a:avLst/>
          </a:prstGeom>
          <a:noFill/>
          <a:ln/>
        </p:spPr>
        <p:txBody>
          <a:bodyPr wrap="none" lIns="0" tIns="0" rIns="0" bIns="0" rtlCol="0" anchor="t"/>
          <a:lstStyle/>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Trusted root +</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administrator</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group + human</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membership</a:t>
            </a:r>
            <a:endParaRPr lang="en-US" sz="2300" dirty="0"/>
          </a:p>
        </p:txBody>
      </p:sp>
      <p:sp>
        <p:nvSpPr>
          <p:cNvPr id="24" name="Shape 22"/>
          <p:cNvSpPr/>
          <p:nvPr/>
        </p:nvSpPr>
        <p:spPr>
          <a:xfrm>
            <a:off x="10771632" y="4389120"/>
            <a:ext cx="210312" cy="0"/>
          </a:xfrm>
          <a:prstGeom prst="line">
            <a:avLst/>
          </a:prstGeom>
          <a:noFill/>
          <a:ln w="25400">
            <a:solidFill>
              <a:srgbClr val="087E8B"/>
            </a:solidFill>
            <a:prstDash val="solid"/>
            <a:headEnd type="none"/>
            <a:tailEnd type="triangle"/>
          </a:ln>
        </p:spPr>
      </p:sp>
      <p:sp>
        <p:nvSpPr>
          <p:cNvPr id="25" name="Shape 23"/>
          <p:cNvSpPr/>
          <p:nvPr/>
        </p:nvSpPr>
        <p:spPr>
          <a:xfrm>
            <a:off x="11055096" y="2880360"/>
            <a:ext cx="3127248" cy="3035808"/>
          </a:xfrm>
          <a:prstGeom prst="roundRect">
            <a:avLst>
              <a:gd name="adj" fmla="val 3614"/>
            </a:avLst>
          </a:prstGeom>
          <a:solidFill>
            <a:srgbClr val="FFFFFF"/>
          </a:solidFill>
          <a:ln w="8890">
            <a:solidFill>
              <a:srgbClr val="CCD7E2"/>
            </a:solidFill>
            <a:prstDash val="solid"/>
          </a:ln>
        </p:spPr>
      </p:sp>
      <p:sp>
        <p:nvSpPr>
          <p:cNvPr id="26" name="Shape 24"/>
          <p:cNvSpPr/>
          <p:nvPr/>
        </p:nvSpPr>
        <p:spPr>
          <a:xfrm>
            <a:off x="11055096" y="2880360"/>
            <a:ext cx="50292" cy="3035808"/>
          </a:xfrm>
          <a:prstGeom prst="rect">
            <a:avLst/>
          </a:prstGeom>
          <a:solidFill>
            <a:srgbClr val="087E8B"/>
          </a:solidFill>
          <a:ln w="8890">
            <a:solidFill>
              <a:srgbClr val="087E8B"/>
            </a:solidFill>
            <a:prstDash val="solid"/>
          </a:ln>
        </p:spPr>
      </p:sp>
      <p:sp>
        <p:nvSpPr>
          <p:cNvPr id="27" name="Text 25"/>
          <p:cNvSpPr/>
          <p:nvPr/>
        </p:nvSpPr>
        <p:spPr>
          <a:xfrm>
            <a:off x="11283696" y="3108960"/>
            <a:ext cx="267004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DISTRIBUTE</a:t>
            </a:r>
            <a:endParaRPr lang="en-US" sz="1800" dirty="0"/>
          </a:p>
        </p:txBody>
      </p:sp>
      <p:sp>
        <p:nvSpPr>
          <p:cNvPr id="28" name="Text 26"/>
          <p:cNvSpPr/>
          <p:nvPr/>
        </p:nvSpPr>
        <p:spPr>
          <a:xfrm>
            <a:off x="11283696" y="3573018"/>
            <a:ext cx="2670048" cy="1151001"/>
          </a:xfrm>
          <a:prstGeom prst="rect">
            <a:avLst/>
          </a:prstGeom>
          <a:noFill/>
          <a:ln/>
        </p:spPr>
        <p:txBody>
          <a:bodyPr wrap="none" lIns="0" tIns="0" rIns="0" bIns="0" rtlCol="0" anchor="t"/>
          <a:lstStyle/>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Explicit bounded</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grants and</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assignments</a:t>
            </a:r>
            <a:endParaRPr lang="en-US" sz="2300" dirty="0"/>
          </a:p>
        </p:txBody>
      </p:sp>
      <p:sp>
        <p:nvSpPr>
          <p:cNvPr id="29" name="Text 27"/>
          <p:cNvSpPr/>
          <p:nvPr/>
        </p:nvSpPr>
        <p:spPr>
          <a:xfrm>
            <a:off x="914400" y="6537960"/>
            <a:ext cx="12801600" cy="432435"/>
          </a:xfrm>
          <a:prstGeom prst="rect">
            <a:avLst/>
          </a:prstGeom>
          <a:noFill/>
          <a:ln/>
        </p:spPr>
        <p:txBody>
          <a:bodyPr wrap="none" lIns="0" tIns="0" rIns="0" bIns="0" rtlCol="0" anchor="t"/>
          <a:lstStyle/>
          <a:p>
            <a:pPr algn="ctr" indent="0" marL="0">
              <a:lnSpc>
                <a:spcPct val="123000"/>
              </a:lnSpc>
              <a:buNone/>
            </a:pPr>
            <a:r>
              <a:rPr lang="en-US" sz="2300" dirty="0">
                <a:solidFill>
                  <a:srgbClr val="52657A"/>
                </a:solidFill>
                <a:latin typeface="Arial" pitchFamily="34" charset="0"/>
                <a:ea typeface="Arial" pitchFamily="34" charset="-122"/>
                <a:cs typeface="Arial" pitchFamily="34" charset="-120"/>
              </a:rPr>
              <a:t>Relationships and boundaries must remain connected throughout.</a:t>
            </a:r>
            <a:endParaRPr lang="en-US" sz="2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ENDPOINT POLICY</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Declare the required operation and inputs</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A server-owned policy connects method + path to one permission.</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A path claim about Finance does not prove C17 belongs to Finance.</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23</a:t>
            </a:r>
            <a:endParaRPr lang="en-US" sz="1400" dirty="0"/>
          </a:p>
        </p:txBody>
      </p:sp>
      <p:sp>
        <p:nvSpPr>
          <p:cNvPr id="10" name="Text 8"/>
          <p:cNvSpPr/>
          <p:nvPr/>
        </p:nvSpPr>
        <p:spPr>
          <a:xfrm>
            <a:off x="658368" y="2404872"/>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permission</a:t>
            </a:r>
            <a:endParaRPr lang="en-US" sz="2200" dirty="0"/>
          </a:p>
        </p:txBody>
      </p:sp>
      <p:sp>
        <p:nvSpPr>
          <p:cNvPr id="11" name="Text 9"/>
          <p:cNvSpPr/>
          <p:nvPr/>
        </p:nvSpPr>
        <p:spPr>
          <a:xfrm>
            <a:off x="658368" y="2867406"/>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One registered operation for</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this endpoint.</a:t>
            </a:r>
            <a:endParaRPr lang="en-US" sz="2200" dirty="0"/>
          </a:p>
        </p:txBody>
      </p:sp>
      <p:sp>
        <p:nvSpPr>
          <p:cNvPr id="12" name="Text 10"/>
          <p:cNvSpPr/>
          <p:nvPr/>
        </p:nvSpPr>
        <p:spPr>
          <a:xfrm>
            <a:off x="658368" y="3920490"/>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inputs</a:t>
            </a:r>
            <a:endParaRPr lang="en-US" sz="2200" dirty="0"/>
          </a:p>
        </p:txBody>
      </p:sp>
      <p:sp>
        <p:nvSpPr>
          <p:cNvPr id="13" name="Text 11"/>
          <p:cNvSpPr/>
          <p:nvPr/>
        </p:nvSpPr>
        <p:spPr>
          <a:xfrm>
            <a:off x="658368" y="4383024"/>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Selected local names—not the</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whole request.</a:t>
            </a:r>
            <a:endParaRPr lang="en-US" sz="2200" dirty="0"/>
          </a:p>
        </p:txBody>
      </p:sp>
      <p:sp>
        <p:nvSpPr>
          <p:cNvPr id="14" name="Text 12"/>
          <p:cNvSpPr/>
          <p:nvPr/>
        </p:nvSpPr>
        <p:spPr>
          <a:xfrm>
            <a:off x="658368" y="5436108"/>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source + name</a:t>
            </a:r>
            <a:endParaRPr lang="en-US" sz="2200" dirty="0"/>
          </a:p>
        </p:txBody>
      </p:sp>
      <p:sp>
        <p:nvSpPr>
          <p:cNvPr id="15" name="Text 13"/>
          <p:cNvSpPr/>
          <p:nvPr/>
        </p:nvSpPr>
        <p:spPr>
          <a:xfrm>
            <a:off x="658368" y="5898642"/>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Exactly where each required</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value comes from.</a:t>
            </a:r>
            <a:endParaRPr lang="en-US" sz="2200" dirty="0"/>
          </a:p>
        </p:txBody>
      </p:sp>
      <p:sp>
        <p:nvSpPr>
          <p:cNvPr id="16" name="Shape 14"/>
          <p:cNvSpPr/>
          <p:nvPr/>
        </p:nvSpPr>
        <p:spPr>
          <a:xfrm>
            <a:off x="5806440" y="2286000"/>
            <a:ext cx="8229600" cy="5029200"/>
          </a:xfrm>
          <a:prstGeom prst="roundRect">
            <a:avLst>
              <a:gd name="adj" fmla="val 2182"/>
            </a:avLst>
          </a:prstGeom>
          <a:solidFill>
            <a:srgbClr val="14263D"/>
          </a:solidFill>
          <a:ln w="8890">
            <a:solidFill>
              <a:srgbClr val="14263D"/>
            </a:solidFill>
            <a:prstDash val="solid"/>
          </a:ln>
        </p:spPr>
      </p:sp>
      <p:sp>
        <p:nvSpPr>
          <p:cNvPr id="17" name="Text 15"/>
          <p:cNvSpPr/>
          <p:nvPr/>
        </p:nvSpPr>
        <p:spPr>
          <a:xfrm>
            <a:off x="6062472" y="246888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APPROVED GET POLICY CORE SHAPE</a:t>
            </a:r>
            <a:endParaRPr lang="en-US" sz="1100" dirty="0"/>
          </a:p>
        </p:txBody>
      </p:sp>
      <p:sp>
        <p:nvSpPr>
          <p:cNvPr id="18" name="Text 16"/>
          <p:cNvSpPr/>
          <p:nvPr/>
        </p:nvSpPr>
        <p:spPr>
          <a:xfrm>
            <a:off x="6062472" y="289864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9" name="Text 17"/>
          <p:cNvSpPr/>
          <p:nvPr/>
        </p:nvSpPr>
        <p:spPr>
          <a:xfrm>
            <a:off x="6062472" y="316382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0" name="Text 18"/>
          <p:cNvSpPr/>
          <p:nvPr/>
        </p:nvSpPr>
        <p:spPr>
          <a:xfrm>
            <a:off x="6062472" y="342900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"method": "GET",</a:t>
            </a:r>
            <a:endParaRPr lang="en-US" sz="1700" dirty="0"/>
          </a:p>
        </p:txBody>
      </p:sp>
      <p:sp>
        <p:nvSpPr>
          <p:cNvPr id="21" name="Text 19"/>
          <p:cNvSpPr/>
          <p:nvPr/>
        </p:nvSpPr>
        <p:spPr>
          <a:xfrm>
            <a:off x="6062472" y="369417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"path": "/api/v1/{tenant}/{dept}/{cert}",</a:t>
            </a:r>
            <a:endParaRPr lang="en-US" sz="1700" dirty="0"/>
          </a:p>
        </p:txBody>
      </p:sp>
      <p:sp>
        <p:nvSpPr>
          <p:cNvPr id="22" name="Text 20"/>
          <p:cNvSpPr/>
          <p:nvPr/>
        </p:nvSpPr>
        <p:spPr>
          <a:xfrm>
            <a:off x="6062472" y="395935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"permission": "hrms:employee:certificate::read",</a:t>
            </a:r>
            <a:endParaRPr lang="en-US" sz="1700" dirty="0"/>
          </a:p>
        </p:txBody>
      </p:sp>
      <p:sp>
        <p:nvSpPr>
          <p:cNvPr id="23" name="Text 21"/>
          <p:cNvSpPr/>
          <p:nvPr/>
        </p:nvSpPr>
        <p:spPr>
          <a:xfrm>
            <a:off x="6062472" y="422452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"inputs": {</a:t>
            </a:r>
            <a:endParaRPr lang="en-US" sz="1700" dirty="0"/>
          </a:p>
        </p:txBody>
      </p:sp>
      <p:sp>
        <p:nvSpPr>
          <p:cNvPr id="24" name="Text 22"/>
          <p:cNvSpPr/>
          <p:nvPr/>
        </p:nvSpPr>
        <p:spPr>
          <a:xfrm>
            <a:off x="6062472" y="448970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"tenant": {"source": "path", "name": "tenant"},</a:t>
            </a:r>
            <a:endParaRPr lang="en-US" sz="1700" dirty="0"/>
          </a:p>
        </p:txBody>
      </p:sp>
      <p:sp>
        <p:nvSpPr>
          <p:cNvPr id="25" name="Text 23"/>
          <p:cNvSpPr/>
          <p:nvPr/>
        </p:nvSpPr>
        <p:spPr>
          <a:xfrm>
            <a:off x="6062472" y="475488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"dept": {"source": "path", "name": "dept"},</a:t>
            </a:r>
            <a:endParaRPr lang="en-US" sz="1700" dirty="0"/>
          </a:p>
        </p:txBody>
      </p:sp>
      <p:sp>
        <p:nvSpPr>
          <p:cNvPr id="26" name="Text 24"/>
          <p:cNvSpPr/>
          <p:nvPr/>
        </p:nvSpPr>
        <p:spPr>
          <a:xfrm>
            <a:off x="6062472" y="502005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"cert": {"source": "path", "name": "cert"}</a:t>
            </a:r>
            <a:endParaRPr lang="en-US" sz="1700" dirty="0"/>
          </a:p>
        </p:txBody>
      </p:sp>
      <p:sp>
        <p:nvSpPr>
          <p:cNvPr id="27" name="Text 25"/>
          <p:cNvSpPr/>
          <p:nvPr/>
        </p:nvSpPr>
        <p:spPr>
          <a:xfrm>
            <a:off x="6062472" y="528523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a:t>
            </a:r>
            <a:endParaRPr lang="en-US" sz="1700" dirty="0"/>
          </a:p>
        </p:txBody>
      </p:sp>
      <p:sp>
        <p:nvSpPr>
          <p:cNvPr id="28" name="Text 26"/>
          <p:cNvSpPr/>
          <p:nvPr/>
        </p:nvSpPr>
        <p:spPr>
          <a:xfrm>
            <a:off x="6062472" y="555040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ENDPOINT POLICY</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Body field and local input can differ</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PUT binds proposed_dept to the body’s department_id.</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No silent default or query fallback for a missing declared body input.</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24</a:t>
            </a:r>
            <a:endParaRPr lang="en-US" sz="1400" dirty="0"/>
          </a:p>
        </p:txBody>
      </p:sp>
      <p:sp>
        <p:nvSpPr>
          <p:cNvPr id="10" name="Text 8"/>
          <p:cNvSpPr/>
          <p:nvPr/>
        </p:nvSpPr>
        <p:spPr>
          <a:xfrm>
            <a:off x="658368" y="2404872"/>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Local name</a:t>
            </a:r>
            <a:endParaRPr lang="en-US" sz="2200" dirty="0"/>
          </a:p>
        </p:txBody>
      </p:sp>
      <p:sp>
        <p:nvSpPr>
          <p:cNvPr id="11" name="Text 9"/>
          <p:cNvSpPr/>
          <p:nvPr/>
        </p:nvSpPr>
        <p:spPr>
          <a:xfrm>
            <a:off x="658368" y="2867406"/>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proposed_dept is used by this</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endpoint.</a:t>
            </a:r>
            <a:endParaRPr lang="en-US" sz="2200" dirty="0"/>
          </a:p>
        </p:txBody>
      </p:sp>
      <p:sp>
        <p:nvSpPr>
          <p:cNvPr id="12" name="Text 10"/>
          <p:cNvSpPr/>
          <p:nvPr/>
        </p:nvSpPr>
        <p:spPr>
          <a:xfrm>
            <a:off x="658368" y="3920490"/>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Declared source</a:t>
            </a:r>
            <a:endParaRPr lang="en-US" sz="2200" dirty="0"/>
          </a:p>
        </p:txBody>
      </p:sp>
      <p:sp>
        <p:nvSpPr>
          <p:cNvPr id="13" name="Text 11"/>
          <p:cNvSpPr/>
          <p:nvPr/>
        </p:nvSpPr>
        <p:spPr>
          <a:xfrm>
            <a:off x="658368" y="4383024"/>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Read department_id from the</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body.</a:t>
            </a:r>
            <a:endParaRPr lang="en-US" sz="2200" dirty="0"/>
          </a:p>
        </p:txBody>
      </p:sp>
      <p:sp>
        <p:nvSpPr>
          <p:cNvPr id="14" name="Text 12"/>
          <p:cNvSpPr/>
          <p:nvPr/>
        </p:nvSpPr>
        <p:spPr>
          <a:xfrm>
            <a:off x="658368" y="5436108"/>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Proposal ≠ fact</a:t>
            </a:r>
            <a:endParaRPr lang="en-US" sz="2200" dirty="0"/>
          </a:p>
        </p:txBody>
      </p:sp>
      <p:sp>
        <p:nvSpPr>
          <p:cNvPr id="15" name="Text 13"/>
          <p:cNvSpPr/>
          <p:nvPr/>
        </p:nvSpPr>
        <p:spPr>
          <a:xfrm>
            <a:off x="658368" y="5898642"/>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The new department does not</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prove the current one.</a:t>
            </a:r>
            <a:endParaRPr lang="en-US" sz="2200" dirty="0"/>
          </a:p>
        </p:txBody>
      </p:sp>
      <p:sp>
        <p:nvSpPr>
          <p:cNvPr id="16" name="Shape 14"/>
          <p:cNvSpPr/>
          <p:nvPr/>
        </p:nvSpPr>
        <p:spPr>
          <a:xfrm>
            <a:off x="5806440" y="2286000"/>
            <a:ext cx="8229600" cy="5029200"/>
          </a:xfrm>
          <a:prstGeom prst="roundRect">
            <a:avLst>
              <a:gd name="adj" fmla="val 2182"/>
            </a:avLst>
          </a:prstGeom>
          <a:solidFill>
            <a:srgbClr val="14263D"/>
          </a:solidFill>
          <a:ln w="8890">
            <a:solidFill>
              <a:srgbClr val="14263D"/>
            </a:solidFill>
            <a:prstDash val="solid"/>
          </a:ln>
        </p:spPr>
      </p:sp>
      <p:sp>
        <p:nvSpPr>
          <p:cNvPr id="17" name="Text 15"/>
          <p:cNvSpPr/>
          <p:nvPr/>
        </p:nvSpPr>
        <p:spPr>
          <a:xfrm>
            <a:off x="6062472" y="246888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APPROVED PUT POLICY CORE SHAPE</a:t>
            </a:r>
            <a:endParaRPr lang="en-US" sz="1100" dirty="0"/>
          </a:p>
        </p:txBody>
      </p:sp>
      <p:sp>
        <p:nvSpPr>
          <p:cNvPr id="18" name="Text 16"/>
          <p:cNvSpPr/>
          <p:nvPr/>
        </p:nvSpPr>
        <p:spPr>
          <a:xfrm>
            <a:off x="6062472" y="289864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9" name="Text 17"/>
          <p:cNvSpPr/>
          <p:nvPr/>
        </p:nvSpPr>
        <p:spPr>
          <a:xfrm>
            <a:off x="6062472" y="316382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0" name="Text 18"/>
          <p:cNvSpPr/>
          <p:nvPr/>
        </p:nvSpPr>
        <p:spPr>
          <a:xfrm>
            <a:off x="6062472" y="342900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"method": "PUT",</a:t>
            </a:r>
            <a:endParaRPr lang="en-US" sz="1700" dirty="0"/>
          </a:p>
        </p:txBody>
      </p:sp>
      <p:sp>
        <p:nvSpPr>
          <p:cNvPr id="21" name="Text 19"/>
          <p:cNvSpPr/>
          <p:nvPr/>
        </p:nvSpPr>
        <p:spPr>
          <a:xfrm>
            <a:off x="6062472" y="369417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"path": "/api/v1/{tenant}/certificates/{cert}",</a:t>
            </a:r>
            <a:endParaRPr lang="en-US" sz="1700" dirty="0"/>
          </a:p>
        </p:txBody>
      </p:sp>
      <p:sp>
        <p:nvSpPr>
          <p:cNvPr id="22" name="Text 20"/>
          <p:cNvSpPr/>
          <p:nvPr/>
        </p:nvSpPr>
        <p:spPr>
          <a:xfrm>
            <a:off x="6062472" y="395935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"permission": "hrms:employee:certificate::write",</a:t>
            </a:r>
            <a:endParaRPr lang="en-US" sz="1700" dirty="0"/>
          </a:p>
        </p:txBody>
      </p:sp>
      <p:sp>
        <p:nvSpPr>
          <p:cNvPr id="23" name="Text 21"/>
          <p:cNvSpPr/>
          <p:nvPr/>
        </p:nvSpPr>
        <p:spPr>
          <a:xfrm>
            <a:off x="6062472" y="422452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"inputs": {</a:t>
            </a:r>
            <a:endParaRPr lang="en-US" sz="1700" dirty="0"/>
          </a:p>
        </p:txBody>
      </p:sp>
      <p:sp>
        <p:nvSpPr>
          <p:cNvPr id="24" name="Text 22"/>
          <p:cNvSpPr/>
          <p:nvPr/>
        </p:nvSpPr>
        <p:spPr>
          <a:xfrm>
            <a:off x="6062472" y="448970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"tenant": {"source": "path", "name": "tenant"},</a:t>
            </a:r>
            <a:endParaRPr lang="en-US" sz="1700" dirty="0"/>
          </a:p>
        </p:txBody>
      </p:sp>
      <p:sp>
        <p:nvSpPr>
          <p:cNvPr id="25" name="Text 23"/>
          <p:cNvSpPr/>
          <p:nvPr/>
        </p:nvSpPr>
        <p:spPr>
          <a:xfrm>
            <a:off x="6062472" y="475488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"cert": {"source": "path", "name": "cert"},</a:t>
            </a:r>
            <a:endParaRPr lang="en-US" sz="1700" dirty="0"/>
          </a:p>
        </p:txBody>
      </p:sp>
      <p:sp>
        <p:nvSpPr>
          <p:cNvPr id="26" name="Text 24"/>
          <p:cNvSpPr/>
          <p:nvPr/>
        </p:nvSpPr>
        <p:spPr>
          <a:xfrm>
            <a:off x="6062472" y="502005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"proposed_dept":</a:t>
            </a:r>
            <a:endParaRPr lang="en-US" sz="1700" dirty="0"/>
          </a:p>
        </p:txBody>
      </p:sp>
      <p:sp>
        <p:nvSpPr>
          <p:cNvPr id="27" name="Text 25"/>
          <p:cNvSpPr/>
          <p:nvPr/>
        </p:nvSpPr>
        <p:spPr>
          <a:xfrm>
            <a:off x="6062472" y="528523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{"source": "body", "name": "department_id"}</a:t>
            </a:r>
            <a:endParaRPr lang="en-US" sz="1700" dirty="0"/>
          </a:p>
        </p:txBody>
      </p:sp>
      <p:sp>
        <p:nvSpPr>
          <p:cNvPr id="28" name="Text 26"/>
          <p:cNvSpPr/>
          <p:nvPr/>
        </p:nvSpPr>
        <p:spPr>
          <a:xfrm>
            <a:off x="6062472" y="555040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a:t>
            </a:r>
            <a:endParaRPr lang="en-US" sz="1700" dirty="0"/>
          </a:p>
        </p:txBody>
      </p:sp>
      <p:sp>
        <p:nvSpPr>
          <p:cNvPr id="29" name="Text 27"/>
          <p:cNvSpPr/>
          <p:nvPr/>
        </p:nvSpPr>
        <p:spPr>
          <a:xfrm>
            <a:off x="6062472" y="581558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REQUEST VOCABULARY</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Request → material → resolved request</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Becoming evaluation-ready does not mean becoming authorized.</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Complete request/resolved-request JSON is pending; these are conceptual views.</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25</a:t>
            </a:r>
            <a:endParaRPr lang="en-US" sz="1400" dirty="0"/>
          </a:p>
        </p:txBody>
      </p:sp>
      <p:sp>
        <p:nvSpPr>
          <p:cNvPr id="10" name="Shape 8"/>
          <p:cNvSpPr/>
          <p:nvPr/>
        </p:nvSpPr>
        <p:spPr>
          <a:xfrm>
            <a:off x="658368" y="2468880"/>
            <a:ext cx="4315968" cy="4133088"/>
          </a:xfrm>
          <a:prstGeom prst="roundRect">
            <a:avLst>
              <a:gd name="adj" fmla="val 2655"/>
            </a:avLst>
          </a:prstGeom>
          <a:solidFill>
            <a:srgbClr val="FFFFFF"/>
          </a:solidFill>
          <a:ln w="8890">
            <a:solidFill>
              <a:srgbClr val="CCD7E2"/>
            </a:solidFill>
            <a:prstDash val="solid"/>
          </a:ln>
        </p:spPr>
      </p:sp>
      <p:sp>
        <p:nvSpPr>
          <p:cNvPr id="11" name="Shape 9"/>
          <p:cNvSpPr/>
          <p:nvPr/>
        </p:nvSpPr>
        <p:spPr>
          <a:xfrm>
            <a:off x="658368" y="2468880"/>
            <a:ext cx="50292" cy="4133088"/>
          </a:xfrm>
          <a:prstGeom prst="rect">
            <a:avLst/>
          </a:prstGeom>
          <a:solidFill>
            <a:srgbClr val="087E8B"/>
          </a:solidFill>
          <a:ln w="8890">
            <a:solidFill>
              <a:srgbClr val="087E8B"/>
            </a:solidFill>
            <a:prstDash val="solid"/>
          </a:ln>
        </p:spPr>
      </p:sp>
      <p:sp>
        <p:nvSpPr>
          <p:cNvPr id="12" name="Text 10"/>
          <p:cNvSpPr/>
          <p:nvPr/>
        </p:nvSpPr>
        <p:spPr>
          <a:xfrm>
            <a:off x="886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REQUEST</a:t>
            </a:r>
            <a:endParaRPr lang="en-US" sz="1800" dirty="0"/>
          </a:p>
        </p:txBody>
      </p:sp>
      <p:sp>
        <p:nvSpPr>
          <p:cNvPr id="13" name="Text 11"/>
          <p:cNvSpPr/>
          <p:nvPr/>
        </p:nvSpPr>
        <p:spPr>
          <a:xfrm>
            <a:off x="886968" y="3161538"/>
            <a:ext cx="3858768" cy="1635252"/>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Nutan asks to read C17</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in Finance.</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GET</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/api/v1/acme/FIN/C17</a:t>
            </a:r>
            <a:endParaRPr lang="en-US" sz="2500" dirty="0"/>
          </a:p>
        </p:txBody>
      </p:sp>
      <p:sp>
        <p:nvSpPr>
          <p:cNvPr id="14" name="Shape 12"/>
          <p:cNvSpPr/>
          <p:nvPr/>
        </p:nvSpPr>
        <p:spPr>
          <a:xfrm>
            <a:off x="5230368" y="2468880"/>
            <a:ext cx="4315968" cy="4133088"/>
          </a:xfrm>
          <a:prstGeom prst="roundRect">
            <a:avLst>
              <a:gd name="adj" fmla="val 2655"/>
            </a:avLst>
          </a:prstGeom>
          <a:solidFill>
            <a:srgbClr val="FFFFFF"/>
          </a:solidFill>
          <a:ln w="8890">
            <a:solidFill>
              <a:srgbClr val="CCD7E2"/>
            </a:solidFill>
            <a:prstDash val="solid"/>
          </a:ln>
        </p:spPr>
      </p:sp>
      <p:sp>
        <p:nvSpPr>
          <p:cNvPr id="15" name="Shape 13"/>
          <p:cNvSpPr/>
          <p:nvPr/>
        </p:nvSpPr>
        <p:spPr>
          <a:xfrm>
            <a:off x="5230368" y="2468880"/>
            <a:ext cx="50292" cy="4133088"/>
          </a:xfrm>
          <a:prstGeom prst="rect">
            <a:avLst/>
          </a:prstGeom>
          <a:solidFill>
            <a:srgbClr val="087E8B"/>
          </a:solidFill>
          <a:ln w="8890">
            <a:solidFill>
              <a:srgbClr val="087E8B"/>
            </a:solidFill>
            <a:prstDash val="solid"/>
          </a:ln>
        </p:spPr>
      </p:sp>
      <p:sp>
        <p:nvSpPr>
          <p:cNvPr id="16" name="Text 14"/>
          <p:cNvSpPr/>
          <p:nvPr/>
        </p:nvSpPr>
        <p:spPr>
          <a:xfrm>
            <a:off x="5458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MATERIAL</a:t>
            </a:r>
            <a:endParaRPr lang="en-US" sz="1800" dirty="0"/>
          </a:p>
        </p:txBody>
      </p:sp>
      <p:sp>
        <p:nvSpPr>
          <p:cNvPr id="17" name="Text 15"/>
          <p:cNvSpPr/>
          <p:nvPr/>
        </p:nvSpPr>
        <p:spPr>
          <a:xfrm>
            <a:off x="5458968" y="3161538"/>
            <a:ext cx="3858768" cy="2416302"/>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Declared inputs +</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verified</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identity/tenant +</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trusted facts or</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enforceable</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constraints.</a:t>
            </a:r>
            <a:endParaRPr lang="en-US" sz="2500" dirty="0"/>
          </a:p>
        </p:txBody>
      </p:sp>
      <p:sp>
        <p:nvSpPr>
          <p:cNvPr id="18" name="Shape 16"/>
          <p:cNvSpPr/>
          <p:nvPr/>
        </p:nvSpPr>
        <p:spPr>
          <a:xfrm>
            <a:off x="9802368" y="2468880"/>
            <a:ext cx="4315968" cy="4133088"/>
          </a:xfrm>
          <a:prstGeom prst="roundRect">
            <a:avLst>
              <a:gd name="adj" fmla="val 2655"/>
            </a:avLst>
          </a:prstGeom>
          <a:solidFill>
            <a:srgbClr val="FFFFFF"/>
          </a:solidFill>
          <a:ln w="8890">
            <a:solidFill>
              <a:srgbClr val="CCD7E2"/>
            </a:solidFill>
            <a:prstDash val="solid"/>
          </a:ln>
        </p:spPr>
      </p:sp>
      <p:sp>
        <p:nvSpPr>
          <p:cNvPr id="19" name="Shape 17"/>
          <p:cNvSpPr/>
          <p:nvPr/>
        </p:nvSpPr>
        <p:spPr>
          <a:xfrm>
            <a:off x="9802368" y="2468880"/>
            <a:ext cx="50292" cy="4133088"/>
          </a:xfrm>
          <a:prstGeom prst="rect">
            <a:avLst/>
          </a:prstGeom>
          <a:solidFill>
            <a:srgbClr val="087E8B"/>
          </a:solidFill>
          <a:ln w="8890">
            <a:solidFill>
              <a:srgbClr val="087E8B"/>
            </a:solidFill>
            <a:prstDash val="solid"/>
          </a:ln>
        </p:spPr>
      </p:sp>
      <p:sp>
        <p:nvSpPr>
          <p:cNvPr id="20" name="Text 18"/>
          <p:cNvSpPr/>
          <p:nvPr/>
        </p:nvSpPr>
        <p:spPr>
          <a:xfrm>
            <a:off x="10030968" y="2697480"/>
            <a:ext cx="385876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RESOLVED REQUEST</a:t>
            </a:r>
            <a:endParaRPr lang="en-US" sz="1800" dirty="0"/>
          </a:p>
        </p:txBody>
      </p:sp>
      <p:sp>
        <p:nvSpPr>
          <p:cNvPr id="21" name="Text 19"/>
          <p:cNvSpPr/>
          <p:nvPr/>
        </p:nvSpPr>
        <p:spPr>
          <a:xfrm>
            <a:off x="10030968" y="3161538"/>
            <a:ext cx="3858768" cy="2025777"/>
          </a:xfrm>
          <a:prstGeom prst="rect">
            <a:avLst/>
          </a:prstGeom>
          <a:noFill/>
          <a:ln/>
        </p:spPr>
        <p:txBody>
          <a:bodyPr wrap="none" lIns="0" tIns="0" rIns="0" bIns="0" rtlCol="0" anchor="t"/>
          <a:lstStyle/>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The operation and</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required</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meaning/material are</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established for</a:t>
            </a:r>
            <a:endParaRPr lang="en-US" sz="2500" dirty="0"/>
          </a:p>
          <a:p>
            <a:pPr algn="l" indent="0" marL="0">
              <a:lnSpc>
                <a:spcPct val="123000"/>
              </a:lnSpc>
              <a:buNone/>
            </a:pPr>
            <a:r>
              <a:rPr lang="en-US" sz="2500" dirty="0">
                <a:solidFill>
                  <a:srgbClr val="14263D"/>
                </a:solidFill>
                <a:latin typeface="Arial" pitchFamily="34" charset="0"/>
                <a:ea typeface="Arial" pitchFamily="34" charset="-122"/>
                <a:cs typeface="Arial" pitchFamily="34" charset="-120"/>
              </a:rPr>
              <a:t>evaluation.</a:t>
            </a:r>
            <a:endParaRPr lang="en-US" sz="2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RESOLUTION</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A resolved grant is a dependent view</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It preserves the complete route—not an independent copy of permissions.</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Resolution cannot amplify authority or mix fragments from unrelated grants.</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26</a:t>
            </a:r>
            <a:endParaRPr lang="en-US" sz="1400" dirty="0"/>
          </a:p>
        </p:txBody>
      </p:sp>
      <p:sp>
        <p:nvSpPr>
          <p:cNvPr id="10" name="Shape 8"/>
          <p:cNvSpPr/>
          <p:nvPr/>
        </p:nvSpPr>
        <p:spPr>
          <a:xfrm>
            <a:off x="685800" y="2423160"/>
            <a:ext cx="13258800" cy="722376"/>
          </a:xfrm>
          <a:prstGeom prst="roundRect">
            <a:avLst>
              <a:gd name="adj" fmla="val 15190"/>
            </a:avLst>
          </a:prstGeom>
          <a:solidFill>
            <a:srgbClr val="FFFFFF"/>
          </a:solidFill>
          <a:ln w="8890">
            <a:solidFill>
              <a:srgbClr val="FFFFFF"/>
            </a:solidFill>
            <a:prstDash val="solid"/>
          </a:ln>
        </p:spPr>
      </p:sp>
      <p:sp>
        <p:nvSpPr>
          <p:cNvPr id="11" name="Text 9"/>
          <p:cNvSpPr/>
          <p:nvPr/>
        </p:nvSpPr>
        <p:spPr>
          <a:xfrm>
            <a:off x="914400" y="2606040"/>
            <a:ext cx="3063240" cy="401193"/>
          </a:xfrm>
          <a:prstGeom prst="rect">
            <a:avLst/>
          </a:prstGeom>
          <a:noFill/>
          <a:ln/>
        </p:spPr>
        <p:txBody>
          <a:bodyPr wrap="none" lIns="0" tIns="0" rIns="0" bIns="0" rtlCol="0" anchor="t"/>
          <a:lstStyle/>
          <a:p>
            <a:pPr algn="l" indent="0" marL="0">
              <a:lnSpc>
                <a:spcPct val="123000"/>
              </a:lnSpc>
              <a:buNone/>
            </a:pPr>
            <a:r>
              <a:rPr lang="en-US" sz="2100" b="1" dirty="0">
                <a:solidFill>
                  <a:srgbClr val="087E8B"/>
                </a:solidFill>
                <a:latin typeface="Arial" pitchFamily="34" charset="0"/>
                <a:ea typeface="Arial" pitchFamily="34" charset="-122"/>
                <a:cs typeface="Arial" pitchFamily="34" charset="-120"/>
              </a:rPr>
              <a:t>Recipient route</a:t>
            </a:r>
            <a:endParaRPr lang="en-US" sz="2100" dirty="0"/>
          </a:p>
        </p:txBody>
      </p:sp>
      <p:sp>
        <p:nvSpPr>
          <p:cNvPr id="12" name="Text 10"/>
          <p:cNvSpPr/>
          <p:nvPr/>
        </p:nvSpPr>
        <p:spPr>
          <a:xfrm>
            <a:off x="4251960" y="2606040"/>
            <a:ext cx="9326880" cy="401193"/>
          </a:xfrm>
          <a:prstGeom prst="rect">
            <a:avLst/>
          </a:prstGeom>
          <a:noFill/>
          <a:ln/>
        </p:spPr>
        <p:txBody>
          <a:bodyPr wrap="none" lIns="0" tIns="0" rIns="0" bIns="0" rtlCol="0" anchor="t"/>
          <a:lstStyle/>
          <a:p>
            <a:pPr algn="l" indent="0" marL="0">
              <a:lnSpc>
                <a:spcPct val="123000"/>
              </a:lnSpc>
              <a:buNone/>
            </a:pPr>
            <a:r>
              <a:rPr lang="en-US" sz="2100" dirty="0">
                <a:solidFill>
                  <a:srgbClr val="14263D"/>
                </a:solidFill>
                <a:latin typeface="Arial" pitchFamily="34" charset="0"/>
                <a:ea typeface="Arial" pitchFamily="34" charset="-122"/>
                <a:cs typeface="Arial" pitchFamily="34" charset="-120"/>
              </a:rPr>
              <a:t>Nutan → Team2 membership → A2 → G2</a:t>
            </a:r>
            <a:endParaRPr lang="en-US" sz="2100" dirty="0"/>
          </a:p>
        </p:txBody>
      </p:sp>
      <p:sp>
        <p:nvSpPr>
          <p:cNvPr id="13" name="Shape 11"/>
          <p:cNvSpPr/>
          <p:nvPr/>
        </p:nvSpPr>
        <p:spPr>
          <a:xfrm>
            <a:off x="685800" y="3255264"/>
            <a:ext cx="13258800" cy="722376"/>
          </a:xfrm>
          <a:prstGeom prst="roundRect">
            <a:avLst>
              <a:gd name="adj" fmla="val 15190"/>
            </a:avLst>
          </a:prstGeom>
          <a:solidFill>
            <a:srgbClr val="E3F3F2"/>
          </a:solidFill>
          <a:ln w="8890">
            <a:solidFill>
              <a:srgbClr val="E3F3F2"/>
            </a:solidFill>
            <a:prstDash val="solid"/>
          </a:ln>
        </p:spPr>
      </p:sp>
      <p:sp>
        <p:nvSpPr>
          <p:cNvPr id="14" name="Text 12"/>
          <p:cNvSpPr/>
          <p:nvPr/>
        </p:nvSpPr>
        <p:spPr>
          <a:xfrm>
            <a:off x="914400" y="3438144"/>
            <a:ext cx="3063240" cy="401193"/>
          </a:xfrm>
          <a:prstGeom prst="rect">
            <a:avLst/>
          </a:prstGeom>
          <a:noFill/>
          <a:ln/>
        </p:spPr>
        <p:txBody>
          <a:bodyPr wrap="none" lIns="0" tIns="0" rIns="0" bIns="0" rtlCol="0" anchor="t"/>
          <a:lstStyle/>
          <a:p>
            <a:pPr algn="l" indent="0" marL="0">
              <a:lnSpc>
                <a:spcPct val="123000"/>
              </a:lnSpc>
              <a:buNone/>
            </a:pPr>
            <a:r>
              <a:rPr lang="en-US" sz="2100" b="1" dirty="0">
                <a:solidFill>
                  <a:srgbClr val="087E8B"/>
                </a:solidFill>
                <a:latin typeface="Arial" pitchFamily="34" charset="0"/>
                <a:ea typeface="Arial" pitchFamily="34" charset="-122"/>
                <a:cs typeface="Arial" pitchFamily="34" charset="-120"/>
              </a:rPr>
              <a:t>Required support</a:t>
            </a:r>
            <a:endParaRPr lang="en-US" sz="2100" dirty="0"/>
          </a:p>
        </p:txBody>
      </p:sp>
      <p:sp>
        <p:nvSpPr>
          <p:cNvPr id="15" name="Text 13"/>
          <p:cNvSpPr/>
          <p:nvPr/>
        </p:nvSpPr>
        <p:spPr>
          <a:xfrm>
            <a:off x="4251960" y="3438144"/>
            <a:ext cx="9326880" cy="401193"/>
          </a:xfrm>
          <a:prstGeom prst="rect">
            <a:avLst/>
          </a:prstGeom>
          <a:noFill/>
          <a:ln/>
        </p:spPr>
        <p:txBody>
          <a:bodyPr wrap="none" lIns="0" tIns="0" rIns="0" bIns="0" rtlCol="0" anchor="t"/>
          <a:lstStyle/>
          <a:p>
            <a:pPr algn="l" indent="0" marL="0">
              <a:lnSpc>
                <a:spcPct val="123000"/>
              </a:lnSpc>
              <a:buNone/>
            </a:pPr>
            <a:r>
              <a:rPr lang="en-US" sz="2100" dirty="0">
                <a:solidFill>
                  <a:srgbClr val="14263D"/>
                </a:solidFill>
                <a:latin typeface="Arial" pitchFamily="34" charset="0"/>
                <a:ea typeface="Arial" pitchFamily="34" charset="-122"/>
                <a:cs typeface="Arial" pitchFamily="34" charset="-120"/>
              </a:rPr>
              <a:t>Team2 → Team1; A1 → G1 → valid G0 support</a:t>
            </a:r>
            <a:endParaRPr lang="en-US" sz="2100" dirty="0"/>
          </a:p>
        </p:txBody>
      </p:sp>
      <p:sp>
        <p:nvSpPr>
          <p:cNvPr id="16" name="Shape 14"/>
          <p:cNvSpPr/>
          <p:nvPr/>
        </p:nvSpPr>
        <p:spPr>
          <a:xfrm>
            <a:off x="685800" y="4087368"/>
            <a:ext cx="13258800" cy="722376"/>
          </a:xfrm>
          <a:prstGeom prst="roundRect">
            <a:avLst>
              <a:gd name="adj" fmla="val 15190"/>
            </a:avLst>
          </a:prstGeom>
          <a:solidFill>
            <a:srgbClr val="FFFFFF"/>
          </a:solidFill>
          <a:ln w="8890">
            <a:solidFill>
              <a:srgbClr val="FFFFFF"/>
            </a:solidFill>
            <a:prstDash val="solid"/>
          </a:ln>
        </p:spPr>
      </p:sp>
      <p:sp>
        <p:nvSpPr>
          <p:cNvPr id="17" name="Text 15"/>
          <p:cNvSpPr/>
          <p:nvPr/>
        </p:nvSpPr>
        <p:spPr>
          <a:xfrm>
            <a:off x="914400" y="4270248"/>
            <a:ext cx="3063240" cy="401193"/>
          </a:xfrm>
          <a:prstGeom prst="rect">
            <a:avLst/>
          </a:prstGeom>
          <a:noFill/>
          <a:ln/>
        </p:spPr>
        <p:txBody>
          <a:bodyPr wrap="none" lIns="0" tIns="0" rIns="0" bIns="0" rtlCol="0" anchor="t"/>
          <a:lstStyle/>
          <a:p>
            <a:pPr algn="l" indent="0" marL="0">
              <a:lnSpc>
                <a:spcPct val="123000"/>
              </a:lnSpc>
              <a:buNone/>
            </a:pPr>
            <a:r>
              <a:rPr lang="en-US" sz="2100" b="1" dirty="0">
                <a:solidFill>
                  <a:srgbClr val="087E8B"/>
                </a:solidFill>
                <a:latin typeface="Arial" pitchFamily="34" charset="0"/>
                <a:ea typeface="Arial" pitchFamily="34" charset="-122"/>
                <a:cs typeface="Arial" pitchFamily="34" charset="-120"/>
              </a:rPr>
              <a:t>Permission</a:t>
            </a:r>
            <a:endParaRPr lang="en-US" sz="2100" dirty="0"/>
          </a:p>
        </p:txBody>
      </p:sp>
      <p:sp>
        <p:nvSpPr>
          <p:cNvPr id="18" name="Text 16"/>
          <p:cNvSpPr/>
          <p:nvPr/>
        </p:nvSpPr>
        <p:spPr>
          <a:xfrm>
            <a:off x="4251960" y="4270248"/>
            <a:ext cx="9326880" cy="401193"/>
          </a:xfrm>
          <a:prstGeom prst="rect">
            <a:avLst/>
          </a:prstGeom>
          <a:noFill/>
          <a:ln/>
        </p:spPr>
        <p:txBody>
          <a:bodyPr wrap="none" lIns="0" tIns="0" rIns="0" bIns="0" rtlCol="0" anchor="t"/>
          <a:lstStyle/>
          <a:p>
            <a:pPr algn="l" indent="0" marL="0">
              <a:lnSpc>
                <a:spcPct val="123000"/>
              </a:lnSpc>
              <a:buNone/>
            </a:pPr>
            <a:r>
              <a:rPr lang="en-US" sz="2100" dirty="0">
                <a:solidFill>
                  <a:srgbClr val="14263D"/>
                </a:solidFill>
                <a:latin typeface="Arial" pitchFamily="34" charset="0"/>
                <a:ea typeface="Arial" pitchFamily="34" charset="-122"/>
                <a:cs typeface="Arial" pitchFamily="34" charset="-120"/>
              </a:rPr>
              <a:t>Certificate read only</a:t>
            </a:r>
            <a:endParaRPr lang="en-US" sz="2100" dirty="0"/>
          </a:p>
        </p:txBody>
      </p:sp>
      <p:sp>
        <p:nvSpPr>
          <p:cNvPr id="19" name="Shape 17"/>
          <p:cNvSpPr/>
          <p:nvPr/>
        </p:nvSpPr>
        <p:spPr>
          <a:xfrm>
            <a:off x="685800" y="4919472"/>
            <a:ext cx="13258800" cy="722376"/>
          </a:xfrm>
          <a:prstGeom prst="roundRect">
            <a:avLst>
              <a:gd name="adj" fmla="val 15190"/>
            </a:avLst>
          </a:prstGeom>
          <a:solidFill>
            <a:srgbClr val="E3F3F2"/>
          </a:solidFill>
          <a:ln w="8890">
            <a:solidFill>
              <a:srgbClr val="E3F3F2"/>
            </a:solidFill>
            <a:prstDash val="solid"/>
          </a:ln>
        </p:spPr>
      </p:sp>
      <p:sp>
        <p:nvSpPr>
          <p:cNvPr id="20" name="Text 18"/>
          <p:cNvSpPr/>
          <p:nvPr/>
        </p:nvSpPr>
        <p:spPr>
          <a:xfrm>
            <a:off x="914400" y="5102352"/>
            <a:ext cx="3063240" cy="401193"/>
          </a:xfrm>
          <a:prstGeom prst="rect">
            <a:avLst/>
          </a:prstGeom>
          <a:noFill/>
          <a:ln/>
        </p:spPr>
        <p:txBody>
          <a:bodyPr wrap="none" lIns="0" tIns="0" rIns="0" bIns="0" rtlCol="0" anchor="t"/>
          <a:lstStyle/>
          <a:p>
            <a:pPr algn="l" indent="0" marL="0">
              <a:lnSpc>
                <a:spcPct val="123000"/>
              </a:lnSpc>
              <a:buNone/>
            </a:pPr>
            <a:r>
              <a:rPr lang="en-US" sz="2100" b="1" dirty="0">
                <a:solidFill>
                  <a:srgbClr val="087E8B"/>
                </a:solidFill>
                <a:latin typeface="Arial" pitchFamily="34" charset="0"/>
                <a:ea typeface="Arial" pitchFamily="34" charset="-122"/>
                <a:cs typeface="Arial" pitchFamily="34" charset="-120"/>
              </a:rPr>
              <a:t>Effective boundary</a:t>
            </a:r>
            <a:endParaRPr lang="en-US" sz="2100" dirty="0"/>
          </a:p>
        </p:txBody>
      </p:sp>
      <p:sp>
        <p:nvSpPr>
          <p:cNvPr id="21" name="Text 19"/>
          <p:cNvSpPr/>
          <p:nvPr/>
        </p:nvSpPr>
        <p:spPr>
          <a:xfrm>
            <a:off x="4251960" y="5102352"/>
            <a:ext cx="9326880" cy="401193"/>
          </a:xfrm>
          <a:prstGeom prst="rect">
            <a:avLst/>
          </a:prstGeom>
          <a:noFill/>
          <a:ln/>
        </p:spPr>
        <p:txBody>
          <a:bodyPr wrap="none" lIns="0" tIns="0" rIns="0" bIns="0" rtlCol="0" anchor="t"/>
          <a:lstStyle/>
          <a:p>
            <a:pPr algn="l" indent="0" marL="0">
              <a:lnSpc>
                <a:spcPct val="123000"/>
              </a:lnSpc>
              <a:buNone/>
            </a:pPr>
            <a:r>
              <a:rPr lang="en-US" sz="2100" dirty="0">
                <a:solidFill>
                  <a:srgbClr val="14263D"/>
                </a:solidFill>
                <a:latin typeface="Arial" pitchFamily="34" charset="0"/>
                <a:ea typeface="Arial" pitchFamily="34" charset="-122"/>
                <a:cs typeface="Arial" pitchFamily="34" charset="-120"/>
              </a:rPr>
              <a:t>Finance AND C17, plus all inherited restrictions</a:t>
            </a:r>
            <a:endParaRPr lang="en-US" sz="2100" dirty="0"/>
          </a:p>
        </p:txBody>
      </p:sp>
      <p:sp>
        <p:nvSpPr>
          <p:cNvPr id="22" name="Shape 20"/>
          <p:cNvSpPr/>
          <p:nvPr/>
        </p:nvSpPr>
        <p:spPr>
          <a:xfrm>
            <a:off x="685800" y="5751576"/>
            <a:ext cx="13258800" cy="722376"/>
          </a:xfrm>
          <a:prstGeom prst="roundRect">
            <a:avLst>
              <a:gd name="adj" fmla="val 15190"/>
            </a:avLst>
          </a:prstGeom>
          <a:solidFill>
            <a:srgbClr val="FFFFFF"/>
          </a:solidFill>
          <a:ln w="8890">
            <a:solidFill>
              <a:srgbClr val="FFFFFF"/>
            </a:solidFill>
            <a:prstDash val="solid"/>
          </a:ln>
        </p:spPr>
      </p:sp>
      <p:sp>
        <p:nvSpPr>
          <p:cNvPr id="23" name="Text 21"/>
          <p:cNvSpPr/>
          <p:nvPr/>
        </p:nvSpPr>
        <p:spPr>
          <a:xfrm>
            <a:off x="914400" y="5934456"/>
            <a:ext cx="3063240" cy="401193"/>
          </a:xfrm>
          <a:prstGeom prst="rect">
            <a:avLst/>
          </a:prstGeom>
          <a:noFill/>
          <a:ln/>
        </p:spPr>
        <p:txBody>
          <a:bodyPr wrap="none" lIns="0" tIns="0" rIns="0" bIns="0" rtlCol="0" anchor="t"/>
          <a:lstStyle/>
          <a:p>
            <a:pPr algn="l" indent="0" marL="0">
              <a:lnSpc>
                <a:spcPct val="123000"/>
              </a:lnSpc>
              <a:buNone/>
            </a:pPr>
            <a:r>
              <a:rPr lang="en-US" sz="2100" b="1" dirty="0">
                <a:solidFill>
                  <a:srgbClr val="087E8B"/>
                </a:solidFill>
                <a:latin typeface="Arial" pitchFamily="34" charset="0"/>
                <a:ea typeface="Arial" pitchFamily="34" charset="-122"/>
                <a:cs typeface="Arial" pitchFamily="34" charset="-120"/>
              </a:rPr>
              <a:t>Continuing limits</a:t>
            </a:r>
            <a:endParaRPr lang="en-US" sz="2100" dirty="0"/>
          </a:p>
        </p:txBody>
      </p:sp>
      <p:sp>
        <p:nvSpPr>
          <p:cNvPr id="24" name="Text 22"/>
          <p:cNvSpPr/>
          <p:nvPr/>
        </p:nvSpPr>
        <p:spPr>
          <a:xfrm>
            <a:off x="4251960" y="5934456"/>
            <a:ext cx="9326880" cy="401193"/>
          </a:xfrm>
          <a:prstGeom prst="rect">
            <a:avLst/>
          </a:prstGeom>
          <a:noFill/>
          <a:ln/>
        </p:spPr>
        <p:txBody>
          <a:bodyPr wrap="none" lIns="0" tIns="0" rIns="0" bIns="0" rtlCol="0" anchor="t"/>
          <a:lstStyle/>
          <a:p>
            <a:pPr algn="l" indent="0" marL="0">
              <a:lnSpc>
                <a:spcPct val="123000"/>
              </a:lnSpc>
              <a:buNone/>
            </a:pPr>
            <a:r>
              <a:rPr lang="en-US" sz="2100" dirty="0">
                <a:solidFill>
                  <a:srgbClr val="14263D"/>
                </a:solidFill>
                <a:latin typeface="Arial" pitchFamily="34" charset="0"/>
                <a:ea typeface="Arial" pitchFamily="34" charset="-122"/>
                <a:cs typeface="Arial" pitchFamily="34" charset="-120"/>
              </a:rPr>
              <a:t>Live controls, validity and any delegation limits</a:t>
            </a:r>
            <a:endParaRPr lang="en-US" sz="2100" dirty="0"/>
          </a:p>
        </p:txBody>
      </p:sp>
      <p:sp>
        <p:nvSpPr>
          <p:cNvPr id="25" name="Text 23"/>
          <p:cNvSpPr/>
          <p:nvPr/>
        </p:nvSpPr>
        <p:spPr>
          <a:xfrm>
            <a:off x="868680" y="6912864"/>
            <a:ext cx="12801600" cy="307467"/>
          </a:xfrm>
          <a:prstGeom prst="rect">
            <a:avLst/>
          </a:prstGeom>
          <a:noFill/>
          <a:ln/>
        </p:spPr>
        <p:txBody>
          <a:bodyPr wrap="none" lIns="0" tIns="0" rIns="0" bIns="0" rtlCol="0" anchor="t"/>
          <a:lstStyle/>
          <a:p>
            <a:pPr algn="l" indent="0" marL="0">
              <a:lnSpc>
                <a:spcPct val="123000"/>
              </a:lnSpc>
              <a:buNone/>
            </a:pPr>
            <a:r>
              <a:rPr lang="en-US" sz="1500" b="1" dirty="0">
                <a:solidFill>
                  <a:srgbClr val="9A5A06"/>
                </a:solidFill>
                <a:latin typeface="Arial" pitchFamily="34" charset="0"/>
                <a:ea typeface="Arial" pitchFamily="34" charset="-122"/>
                <a:cs typeface="Arial" pitchFamily="34" charset="-120"/>
              </a:rPr>
              <a:t>EXPLANATORY VIEW · RESOLVED-GRANT JSON IS STILL PENDING</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DECISIONS</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Allow identifies supporting authority</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The result is about this evaluated operation—not future unrestricted access.</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Supporting references do not replace actual boundary enforcement.</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27</a:t>
            </a:r>
            <a:endParaRPr lang="en-US" sz="1400" dirty="0"/>
          </a:p>
        </p:txBody>
      </p:sp>
      <p:sp>
        <p:nvSpPr>
          <p:cNvPr id="10" name="Text 8"/>
          <p:cNvSpPr/>
          <p:nvPr/>
        </p:nvSpPr>
        <p:spPr>
          <a:xfrm>
            <a:off x="658368" y="2404872"/>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decision</a:t>
            </a:r>
            <a:endParaRPr lang="en-US" sz="2200" dirty="0"/>
          </a:p>
        </p:txBody>
      </p:sp>
      <p:sp>
        <p:nvSpPr>
          <p:cNvPr id="11" name="Text 9"/>
          <p:cNvSpPr/>
          <p:nvPr/>
        </p:nvSpPr>
        <p:spPr>
          <a:xfrm>
            <a:off x="658368" y="2867406"/>
            <a:ext cx="4681728" cy="416814"/>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A completed allow.</a:t>
            </a:r>
            <a:endParaRPr lang="en-US" sz="2200" dirty="0"/>
          </a:p>
        </p:txBody>
      </p:sp>
      <p:sp>
        <p:nvSpPr>
          <p:cNvPr id="12" name="Text 10"/>
          <p:cNvSpPr/>
          <p:nvPr/>
        </p:nvSpPr>
        <p:spPr>
          <a:xfrm>
            <a:off x="658368" y="3576828"/>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grant_ids</a:t>
            </a:r>
            <a:endParaRPr lang="en-US" sz="2200" dirty="0"/>
          </a:p>
        </p:txBody>
      </p:sp>
      <p:sp>
        <p:nvSpPr>
          <p:cNvPr id="13" name="Text 11"/>
          <p:cNvSpPr/>
          <p:nvPr/>
        </p:nvSpPr>
        <p:spPr>
          <a:xfrm>
            <a:off x="658368" y="4039362"/>
            <a:ext cx="4681728" cy="416814"/>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Non-empty supporting references.</a:t>
            </a:r>
            <a:endParaRPr lang="en-US" sz="2200" dirty="0"/>
          </a:p>
        </p:txBody>
      </p:sp>
      <p:sp>
        <p:nvSpPr>
          <p:cNvPr id="14" name="Text 12"/>
          <p:cNvSpPr/>
          <p:nvPr/>
        </p:nvSpPr>
        <p:spPr>
          <a:xfrm>
            <a:off x="658368" y="4748784"/>
            <a:ext cx="4681728" cy="416814"/>
          </a:xfrm>
          <a:prstGeom prst="rect">
            <a:avLst/>
          </a:prstGeom>
          <a:noFill/>
          <a:ln/>
        </p:spPr>
        <p:txBody>
          <a:bodyPr wrap="none" lIns="0" tIns="0" rIns="0" bIns="0" rtlCol="0" anchor="t"/>
          <a:lstStyle/>
          <a:p>
            <a:pPr algn="l" indent="0" marL="0">
              <a:lnSpc>
                <a:spcPct val="123000"/>
              </a:lnSpc>
              <a:buNone/>
            </a:pPr>
            <a:r>
              <a:rPr lang="en-US" sz="2200" b="1" dirty="0">
                <a:solidFill>
                  <a:srgbClr val="087E8B"/>
                </a:solidFill>
                <a:latin typeface="Arial" pitchFamily="34" charset="0"/>
                <a:ea typeface="Arial" pitchFamily="34" charset="-122"/>
                <a:cs typeface="Arial" pitchFamily="34" charset="-120"/>
              </a:rPr>
              <a:t>Evidence</a:t>
            </a:r>
            <a:endParaRPr lang="en-US" sz="2200" dirty="0"/>
          </a:p>
        </p:txBody>
      </p:sp>
      <p:sp>
        <p:nvSpPr>
          <p:cNvPr id="15" name="Text 13"/>
          <p:cNvSpPr/>
          <p:nvPr/>
        </p:nvSpPr>
        <p:spPr>
          <a:xfrm>
            <a:off x="658368" y="5211318"/>
            <a:ext cx="4681728" cy="760476"/>
          </a:xfrm>
          <a:prstGeom prst="rect">
            <a:avLst/>
          </a:prstGeom>
          <a:noFill/>
          <a:ln/>
        </p:spPr>
        <p:txBody>
          <a:bodyPr wrap="none" lIns="0" tIns="0" rIns="0" bIns="0" rtlCol="0" anchor="t"/>
          <a:lstStyle/>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Not all held grants and not a</a:t>
            </a:r>
            <a:endParaRPr lang="en-US" sz="2200" dirty="0"/>
          </a:p>
          <a:p>
            <a:pPr algn="l" indent="0" marL="0">
              <a:lnSpc>
                <a:spcPct val="123000"/>
              </a:lnSpc>
              <a:buNone/>
            </a:pPr>
            <a:r>
              <a:rPr lang="en-US" sz="2200" dirty="0">
                <a:solidFill>
                  <a:srgbClr val="14263D"/>
                </a:solidFill>
                <a:latin typeface="Arial" pitchFamily="34" charset="0"/>
                <a:ea typeface="Arial" pitchFamily="34" charset="-122"/>
                <a:cs typeface="Arial" pitchFamily="34" charset="-120"/>
              </a:rPr>
              <a:t>new assignment.</a:t>
            </a:r>
            <a:endParaRPr lang="en-US" sz="2200" dirty="0"/>
          </a:p>
        </p:txBody>
      </p:sp>
      <p:sp>
        <p:nvSpPr>
          <p:cNvPr id="16" name="Shape 14"/>
          <p:cNvSpPr/>
          <p:nvPr/>
        </p:nvSpPr>
        <p:spPr>
          <a:xfrm>
            <a:off x="5806440" y="2286000"/>
            <a:ext cx="8229600" cy="5029200"/>
          </a:xfrm>
          <a:prstGeom prst="roundRect">
            <a:avLst>
              <a:gd name="adj" fmla="val 2182"/>
            </a:avLst>
          </a:prstGeom>
          <a:solidFill>
            <a:srgbClr val="14263D"/>
          </a:solidFill>
          <a:ln w="8890">
            <a:solidFill>
              <a:srgbClr val="14263D"/>
            </a:solidFill>
            <a:prstDash val="solid"/>
          </a:ln>
        </p:spPr>
      </p:sp>
      <p:sp>
        <p:nvSpPr>
          <p:cNvPr id="17" name="Text 15"/>
          <p:cNvSpPr/>
          <p:nvPr/>
        </p:nvSpPr>
        <p:spPr>
          <a:xfrm>
            <a:off x="6062472" y="2468880"/>
            <a:ext cx="771753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APPROVED MINIMUM ALLOW RESULT</a:t>
            </a:r>
            <a:endParaRPr lang="en-US" sz="1100" dirty="0"/>
          </a:p>
        </p:txBody>
      </p:sp>
      <p:sp>
        <p:nvSpPr>
          <p:cNvPr id="18" name="Text 16"/>
          <p:cNvSpPr/>
          <p:nvPr/>
        </p:nvSpPr>
        <p:spPr>
          <a:xfrm>
            <a:off x="6062472" y="289864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9" name="Text 17"/>
          <p:cNvSpPr/>
          <p:nvPr/>
        </p:nvSpPr>
        <p:spPr>
          <a:xfrm>
            <a:off x="6062472" y="316382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0" name="Text 18"/>
          <p:cNvSpPr/>
          <p:nvPr/>
        </p:nvSpPr>
        <p:spPr>
          <a:xfrm>
            <a:off x="6062472" y="3429000"/>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"decision": "allow",</a:t>
            </a:r>
            <a:endParaRPr lang="en-US" sz="1700" dirty="0"/>
          </a:p>
        </p:txBody>
      </p:sp>
      <p:sp>
        <p:nvSpPr>
          <p:cNvPr id="21" name="Text 19"/>
          <p:cNvSpPr/>
          <p:nvPr/>
        </p:nvSpPr>
        <p:spPr>
          <a:xfrm>
            <a:off x="6062472" y="3694176"/>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"grant_ids": [</a:t>
            </a:r>
            <a:endParaRPr lang="en-US" sz="1700" dirty="0"/>
          </a:p>
        </p:txBody>
      </p:sp>
      <p:sp>
        <p:nvSpPr>
          <p:cNvPr id="22" name="Text 20"/>
          <p:cNvSpPr/>
          <p:nvPr/>
        </p:nvSpPr>
        <p:spPr>
          <a:xfrm>
            <a:off x="6062472" y="3959352"/>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"G2"</a:t>
            </a:r>
            <a:endParaRPr lang="en-US" sz="1700" dirty="0"/>
          </a:p>
        </p:txBody>
      </p:sp>
      <p:sp>
        <p:nvSpPr>
          <p:cNvPr id="23" name="Text 21"/>
          <p:cNvSpPr/>
          <p:nvPr/>
        </p:nvSpPr>
        <p:spPr>
          <a:xfrm>
            <a:off x="6062472" y="4224528"/>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a:t>
            </a:r>
            <a:endParaRPr lang="en-US" sz="1700" dirty="0"/>
          </a:p>
        </p:txBody>
      </p:sp>
      <p:sp>
        <p:nvSpPr>
          <p:cNvPr id="24" name="Text 22"/>
          <p:cNvSpPr/>
          <p:nvPr/>
        </p:nvSpPr>
        <p:spPr>
          <a:xfrm>
            <a:off x="6062472" y="4489704"/>
            <a:ext cx="771753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DECISIONS</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Deny is not an evaluation error</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Both stop the protected operation—but they explain different outcomes.</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Both message fields reach the UI; the reason is not a private diagnostic channel.</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28</a:t>
            </a:r>
            <a:endParaRPr lang="en-US" sz="1400" dirty="0"/>
          </a:p>
        </p:txBody>
      </p:sp>
      <p:sp>
        <p:nvSpPr>
          <p:cNvPr id="10" name="Text 8"/>
          <p:cNvSpPr/>
          <p:nvPr/>
        </p:nvSpPr>
        <p:spPr>
          <a:xfrm>
            <a:off x="777240" y="2240280"/>
            <a:ext cx="6446520" cy="432435"/>
          </a:xfrm>
          <a:prstGeom prst="rect">
            <a:avLst/>
          </a:prstGeom>
          <a:noFill/>
          <a:ln/>
        </p:spPr>
        <p:txBody>
          <a:bodyPr wrap="none" lIns="0" tIns="0" rIns="0" bIns="0" rtlCol="0" anchor="t"/>
          <a:lstStyle/>
          <a:p>
            <a:pPr algn="l" indent="0" marL="0">
              <a:lnSpc>
                <a:spcPct val="123000"/>
              </a:lnSpc>
              <a:buNone/>
            </a:pPr>
            <a:r>
              <a:rPr lang="en-US" sz="2300" b="1" dirty="0">
                <a:solidFill>
                  <a:srgbClr val="AC334A"/>
                </a:solidFill>
                <a:latin typeface="Arial" pitchFamily="34" charset="0"/>
                <a:ea typeface="Arial" pitchFamily="34" charset="-122"/>
                <a:cs typeface="Arial" pitchFamily="34" charset="-120"/>
              </a:rPr>
              <a:t>DENY · evaluation completed</a:t>
            </a:r>
            <a:endParaRPr lang="en-US" sz="2300" dirty="0"/>
          </a:p>
        </p:txBody>
      </p:sp>
      <p:sp>
        <p:nvSpPr>
          <p:cNvPr id="11" name="Text 9"/>
          <p:cNvSpPr/>
          <p:nvPr/>
        </p:nvSpPr>
        <p:spPr>
          <a:xfrm>
            <a:off x="7498080" y="2240280"/>
            <a:ext cx="6400800" cy="432435"/>
          </a:xfrm>
          <a:prstGeom prst="rect">
            <a:avLst/>
          </a:prstGeom>
          <a:noFill/>
          <a:ln/>
        </p:spPr>
        <p:txBody>
          <a:bodyPr wrap="none" lIns="0" tIns="0" rIns="0" bIns="0" rtlCol="0" anchor="t"/>
          <a:lstStyle/>
          <a:p>
            <a:pPr algn="l" indent="0" marL="0">
              <a:lnSpc>
                <a:spcPct val="123000"/>
              </a:lnSpc>
              <a:buNone/>
            </a:pPr>
            <a:r>
              <a:rPr lang="en-US" sz="2300" b="1" dirty="0">
                <a:solidFill>
                  <a:srgbClr val="9A5A06"/>
                </a:solidFill>
                <a:latin typeface="Arial" pitchFamily="34" charset="0"/>
                <a:ea typeface="Arial" pitchFamily="34" charset="-122"/>
                <a:cs typeface="Arial" pitchFamily="34" charset="-120"/>
              </a:rPr>
              <a:t>ERROR · evaluation could not finish</a:t>
            </a:r>
            <a:endParaRPr lang="en-US" sz="2300" dirty="0"/>
          </a:p>
        </p:txBody>
      </p:sp>
      <p:sp>
        <p:nvSpPr>
          <p:cNvPr id="12" name="Shape 10"/>
          <p:cNvSpPr/>
          <p:nvPr/>
        </p:nvSpPr>
        <p:spPr>
          <a:xfrm>
            <a:off x="685800" y="2788920"/>
            <a:ext cx="6492240" cy="4206240"/>
          </a:xfrm>
          <a:prstGeom prst="roundRect">
            <a:avLst>
              <a:gd name="adj" fmla="val 2609"/>
            </a:avLst>
          </a:prstGeom>
          <a:solidFill>
            <a:srgbClr val="14263D"/>
          </a:solidFill>
          <a:ln w="8890">
            <a:solidFill>
              <a:srgbClr val="14263D"/>
            </a:solidFill>
            <a:prstDash val="solid"/>
          </a:ln>
        </p:spPr>
      </p:sp>
      <p:sp>
        <p:nvSpPr>
          <p:cNvPr id="13" name="Text 11"/>
          <p:cNvSpPr/>
          <p:nvPr/>
        </p:nvSpPr>
        <p:spPr>
          <a:xfrm>
            <a:off x="941832" y="2971800"/>
            <a:ext cx="598017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APPROVED CORE SHAPE · ILLUSTRATIVE CODE</a:t>
            </a:r>
            <a:endParaRPr lang="en-US" sz="1100" dirty="0"/>
          </a:p>
        </p:txBody>
      </p:sp>
      <p:sp>
        <p:nvSpPr>
          <p:cNvPr id="14" name="Text 12"/>
          <p:cNvSpPr/>
          <p:nvPr/>
        </p:nvSpPr>
        <p:spPr>
          <a:xfrm>
            <a:off x="941832" y="3401568"/>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15" name="Text 13"/>
          <p:cNvSpPr/>
          <p:nvPr/>
        </p:nvSpPr>
        <p:spPr>
          <a:xfrm>
            <a:off x="941832" y="3666744"/>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16" name="Text 14"/>
          <p:cNvSpPr/>
          <p:nvPr/>
        </p:nvSpPr>
        <p:spPr>
          <a:xfrm>
            <a:off x="941832" y="3931920"/>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"decision": "deny",</a:t>
            </a:r>
            <a:endParaRPr lang="en-US" sz="1700" dirty="0"/>
          </a:p>
        </p:txBody>
      </p:sp>
      <p:sp>
        <p:nvSpPr>
          <p:cNvPr id="17" name="Text 15"/>
          <p:cNvSpPr/>
          <p:nvPr/>
        </p:nvSpPr>
        <p:spPr>
          <a:xfrm>
            <a:off x="941832" y="4197096"/>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"error_code": "NO_AUTHORIZING_GRANT",</a:t>
            </a:r>
            <a:endParaRPr lang="en-US" sz="1700" dirty="0"/>
          </a:p>
        </p:txBody>
      </p:sp>
      <p:sp>
        <p:nvSpPr>
          <p:cNvPr id="18" name="Text 16"/>
          <p:cNvSpPr/>
          <p:nvPr/>
        </p:nvSpPr>
        <p:spPr>
          <a:xfrm>
            <a:off x="941832" y="4462272"/>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"error_message": "You do not have access.",</a:t>
            </a:r>
            <a:endParaRPr lang="en-US" sz="1700" dirty="0"/>
          </a:p>
        </p:txBody>
      </p:sp>
      <p:sp>
        <p:nvSpPr>
          <p:cNvPr id="19" name="Text 17"/>
          <p:cNvSpPr/>
          <p:nvPr/>
        </p:nvSpPr>
        <p:spPr>
          <a:xfrm>
            <a:off x="941832" y="4727448"/>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"error_message_reason":</a:t>
            </a:r>
            <a:endParaRPr lang="en-US" sz="1700" dirty="0"/>
          </a:p>
        </p:txBody>
      </p:sp>
      <p:sp>
        <p:nvSpPr>
          <p:cNvPr id="20" name="Text 18"/>
          <p:cNvSpPr/>
          <p:nvPr/>
        </p:nvSpPr>
        <p:spPr>
          <a:xfrm>
            <a:off x="941832" y="4992624"/>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"No complete route permits this read."</a:t>
            </a:r>
            <a:endParaRPr lang="en-US" sz="1700" dirty="0"/>
          </a:p>
        </p:txBody>
      </p:sp>
      <p:sp>
        <p:nvSpPr>
          <p:cNvPr id="21" name="Text 19"/>
          <p:cNvSpPr/>
          <p:nvPr/>
        </p:nvSpPr>
        <p:spPr>
          <a:xfrm>
            <a:off x="941832" y="5257800"/>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22" name="Shape 20"/>
          <p:cNvSpPr/>
          <p:nvPr/>
        </p:nvSpPr>
        <p:spPr>
          <a:xfrm>
            <a:off x="7452360" y="2788920"/>
            <a:ext cx="6492240" cy="4206240"/>
          </a:xfrm>
          <a:prstGeom prst="roundRect">
            <a:avLst>
              <a:gd name="adj" fmla="val 2609"/>
            </a:avLst>
          </a:prstGeom>
          <a:solidFill>
            <a:srgbClr val="14263D"/>
          </a:solidFill>
          <a:ln w="8890">
            <a:solidFill>
              <a:srgbClr val="14263D"/>
            </a:solidFill>
            <a:prstDash val="solid"/>
          </a:ln>
        </p:spPr>
      </p:sp>
      <p:sp>
        <p:nvSpPr>
          <p:cNvPr id="23" name="Text 21"/>
          <p:cNvSpPr/>
          <p:nvPr/>
        </p:nvSpPr>
        <p:spPr>
          <a:xfrm>
            <a:off x="7708392" y="2971800"/>
            <a:ext cx="5980176" cy="244983"/>
          </a:xfrm>
          <a:prstGeom prst="rect">
            <a:avLst/>
          </a:prstGeom>
          <a:noFill/>
          <a:ln/>
        </p:spPr>
        <p:txBody>
          <a:bodyPr wrap="none" lIns="0" tIns="0" rIns="0" bIns="0" rtlCol="0" anchor="t"/>
          <a:lstStyle/>
          <a:p>
            <a:pPr algn="l" indent="0" marL="0">
              <a:lnSpc>
                <a:spcPct val="123000"/>
              </a:lnSpc>
              <a:buNone/>
            </a:pPr>
            <a:r>
              <a:rPr lang="en-US" sz="1100" b="1" dirty="0">
                <a:solidFill>
                  <a:srgbClr val="83D4D6"/>
                </a:solidFill>
                <a:latin typeface="Arial" pitchFamily="34" charset="0"/>
                <a:ea typeface="Arial" pitchFamily="34" charset="-122"/>
                <a:cs typeface="Arial" pitchFamily="34" charset="-120"/>
              </a:rPr>
              <a:t>APPROVED CORE SHAPE · ILLUSTRATIVE CODE</a:t>
            </a:r>
            <a:endParaRPr lang="en-US" sz="1100" dirty="0"/>
          </a:p>
        </p:txBody>
      </p:sp>
      <p:sp>
        <p:nvSpPr>
          <p:cNvPr id="24" name="Text 22"/>
          <p:cNvSpPr/>
          <p:nvPr/>
        </p:nvSpPr>
        <p:spPr>
          <a:xfrm>
            <a:off x="7708392" y="3401568"/>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
        <p:nvSpPr>
          <p:cNvPr id="25" name="Text 23"/>
          <p:cNvSpPr/>
          <p:nvPr/>
        </p:nvSpPr>
        <p:spPr>
          <a:xfrm>
            <a:off x="7708392" y="3666744"/>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"version": "1",</a:t>
            </a:r>
            <a:endParaRPr lang="en-US" sz="1700" dirty="0"/>
          </a:p>
        </p:txBody>
      </p:sp>
      <p:sp>
        <p:nvSpPr>
          <p:cNvPr id="26" name="Text 24"/>
          <p:cNvSpPr/>
          <p:nvPr/>
        </p:nvSpPr>
        <p:spPr>
          <a:xfrm>
            <a:off x="7708392" y="3931920"/>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"error_code": "AUTH_SERVICE_TIMEOUT",</a:t>
            </a:r>
            <a:endParaRPr lang="en-US" sz="1700" dirty="0"/>
          </a:p>
        </p:txBody>
      </p:sp>
      <p:sp>
        <p:nvSpPr>
          <p:cNvPr id="27" name="Text 25"/>
          <p:cNvSpPr/>
          <p:nvPr/>
        </p:nvSpPr>
        <p:spPr>
          <a:xfrm>
            <a:off x="7708392" y="4197096"/>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"error_message":</a:t>
            </a:r>
            <a:endParaRPr lang="en-US" sz="1700" dirty="0"/>
          </a:p>
        </p:txBody>
      </p:sp>
      <p:sp>
        <p:nvSpPr>
          <p:cNvPr id="28" name="Text 26"/>
          <p:cNvSpPr/>
          <p:nvPr/>
        </p:nvSpPr>
        <p:spPr>
          <a:xfrm>
            <a:off x="7708392" y="4462272"/>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"We could not check your access.",</a:t>
            </a:r>
            <a:endParaRPr lang="en-US" sz="1700" dirty="0"/>
          </a:p>
        </p:txBody>
      </p:sp>
      <p:sp>
        <p:nvSpPr>
          <p:cNvPr id="29" name="Text 27"/>
          <p:cNvSpPr/>
          <p:nvPr/>
        </p:nvSpPr>
        <p:spPr>
          <a:xfrm>
            <a:off x="7708392" y="4727448"/>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"error_message_reason":</a:t>
            </a:r>
            <a:endParaRPr lang="en-US" sz="1700" dirty="0"/>
          </a:p>
        </p:txBody>
      </p:sp>
      <p:sp>
        <p:nvSpPr>
          <p:cNvPr id="30" name="Text 28"/>
          <p:cNvSpPr/>
          <p:nvPr/>
        </p:nvSpPr>
        <p:spPr>
          <a:xfrm>
            <a:off x="7708392" y="4992624"/>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    "Required authority could not be loaded."</a:t>
            </a:r>
            <a:endParaRPr lang="en-US" sz="1700" dirty="0"/>
          </a:p>
        </p:txBody>
      </p:sp>
      <p:sp>
        <p:nvSpPr>
          <p:cNvPr id="31" name="Text 29"/>
          <p:cNvSpPr/>
          <p:nvPr/>
        </p:nvSpPr>
        <p:spPr>
          <a:xfrm>
            <a:off x="7708392" y="5257800"/>
            <a:ext cx="5980176" cy="289052"/>
          </a:xfrm>
          <a:prstGeom prst="rect">
            <a:avLst/>
          </a:prstGeom>
          <a:noFill/>
          <a:ln/>
        </p:spPr>
        <p:txBody>
          <a:bodyPr wrap="none" lIns="0" tIns="0" rIns="0" bIns="0" rtlCol="0" anchor="t"/>
          <a:lstStyle/>
          <a:p>
            <a:pPr algn="l" indent="0" marL="0">
              <a:lnSpc>
                <a:spcPct val="100000"/>
              </a:lnSpc>
              <a:buNone/>
            </a:pPr>
            <a:r>
              <a:rPr lang="en-US" sz="1700" dirty="0">
                <a:solidFill>
                  <a:srgbClr val="ECF3FA"/>
                </a:solidFill>
                <a:latin typeface="Courier New" pitchFamily="34" charset="0"/>
                <a:ea typeface="Courier New" pitchFamily="34" charset="-122"/>
                <a:cs typeface="Courier New" pitchFamily="34" charset="-120"/>
              </a:rPr>
              <a:t>}</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ONE CONNECTED REQUEST</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From Nutan’s request to a constrained read</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Auth supplies authority. The application keeps the operation inside it.</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Allow for Finance/C17 must never become an unchecked certificate-ID lookup.</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29</a:t>
            </a:r>
            <a:endParaRPr lang="en-US" sz="1400" dirty="0"/>
          </a:p>
        </p:txBody>
      </p:sp>
      <p:sp>
        <p:nvSpPr>
          <p:cNvPr id="10" name="Shape 8"/>
          <p:cNvSpPr/>
          <p:nvPr/>
        </p:nvSpPr>
        <p:spPr>
          <a:xfrm>
            <a:off x="658368" y="2880360"/>
            <a:ext cx="3127248" cy="3035808"/>
          </a:xfrm>
          <a:prstGeom prst="roundRect">
            <a:avLst>
              <a:gd name="adj" fmla="val 3614"/>
            </a:avLst>
          </a:prstGeom>
          <a:solidFill>
            <a:srgbClr val="FFFFFF"/>
          </a:solidFill>
          <a:ln w="8890">
            <a:solidFill>
              <a:srgbClr val="CCD7E2"/>
            </a:solidFill>
            <a:prstDash val="solid"/>
          </a:ln>
        </p:spPr>
      </p:sp>
      <p:sp>
        <p:nvSpPr>
          <p:cNvPr id="11" name="Shape 9"/>
          <p:cNvSpPr/>
          <p:nvPr/>
        </p:nvSpPr>
        <p:spPr>
          <a:xfrm>
            <a:off x="658368" y="2880360"/>
            <a:ext cx="50292" cy="3035808"/>
          </a:xfrm>
          <a:prstGeom prst="rect">
            <a:avLst/>
          </a:prstGeom>
          <a:solidFill>
            <a:srgbClr val="087E8B"/>
          </a:solidFill>
          <a:ln w="8890">
            <a:solidFill>
              <a:srgbClr val="087E8B"/>
            </a:solidFill>
            <a:prstDash val="solid"/>
          </a:ln>
        </p:spPr>
      </p:sp>
      <p:sp>
        <p:nvSpPr>
          <p:cNvPr id="12" name="Text 10"/>
          <p:cNvSpPr/>
          <p:nvPr/>
        </p:nvSpPr>
        <p:spPr>
          <a:xfrm>
            <a:off x="886968" y="3108960"/>
            <a:ext cx="267004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ESTABLISH</a:t>
            </a:r>
            <a:endParaRPr lang="en-US" sz="1800" dirty="0"/>
          </a:p>
        </p:txBody>
      </p:sp>
      <p:sp>
        <p:nvSpPr>
          <p:cNvPr id="13" name="Text 11"/>
          <p:cNvSpPr/>
          <p:nvPr/>
        </p:nvSpPr>
        <p:spPr>
          <a:xfrm>
            <a:off x="886968" y="3573018"/>
            <a:ext cx="2670048" cy="1151001"/>
          </a:xfrm>
          <a:prstGeom prst="rect">
            <a:avLst/>
          </a:prstGeom>
          <a:noFill/>
          <a:ln/>
        </p:spPr>
        <p:txBody>
          <a:bodyPr wrap="none" lIns="0" tIns="0" rIns="0" bIns="0" rtlCol="0" anchor="t"/>
          <a:lstStyle/>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Nutan’s identity</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 tenant +</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declared inputs</a:t>
            </a:r>
            <a:endParaRPr lang="en-US" sz="2300" dirty="0"/>
          </a:p>
        </p:txBody>
      </p:sp>
      <p:sp>
        <p:nvSpPr>
          <p:cNvPr id="14" name="Shape 12"/>
          <p:cNvSpPr/>
          <p:nvPr/>
        </p:nvSpPr>
        <p:spPr>
          <a:xfrm>
            <a:off x="3840480" y="4389120"/>
            <a:ext cx="210312" cy="0"/>
          </a:xfrm>
          <a:prstGeom prst="line">
            <a:avLst/>
          </a:prstGeom>
          <a:noFill/>
          <a:ln w="25400">
            <a:solidFill>
              <a:srgbClr val="087E8B"/>
            </a:solidFill>
            <a:prstDash val="solid"/>
            <a:headEnd type="none"/>
            <a:tailEnd type="triangle"/>
          </a:ln>
        </p:spPr>
      </p:sp>
      <p:sp>
        <p:nvSpPr>
          <p:cNvPr id="15" name="Shape 13"/>
          <p:cNvSpPr/>
          <p:nvPr/>
        </p:nvSpPr>
        <p:spPr>
          <a:xfrm>
            <a:off x="4123944" y="2880360"/>
            <a:ext cx="3127248" cy="3035808"/>
          </a:xfrm>
          <a:prstGeom prst="roundRect">
            <a:avLst>
              <a:gd name="adj" fmla="val 3614"/>
            </a:avLst>
          </a:prstGeom>
          <a:solidFill>
            <a:srgbClr val="FFFFFF"/>
          </a:solidFill>
          <a:ln w="8890">
            <a:solidFill>
              <a:srgbClr val="CCD7E2"/>
            </a:solidFill>
            <a:prstDash val="solid"/>
          </a:ln>
        </p:spPr>
      </p:sp>
      <p:sp>
        <p:nvSpPr>
          <p:cNvPr id="16" name="Shape 14"/>
          <p:cNvSpPr/>
          <p:nvPr/>
        </p:nvSpPr>
        <p:spPr>
          <a:xfrm>
            <a:off x="4123944" y="2880360"/>
            <a:ext cx="50292" cy="3035808"/>
          </a:xfrm>
          <a:prstGeom prst="rect">
            <a:avLst/>
          </a:prstGeom>
          <a:solidFill>
            <a:srgbClr val="087E8B"/>
          </a:solidFill>
          <a:ln w="8890">
            <a:solidFill>
              <a:srgbClr val="087E8B"/>
            </a:solidFill>
            <a:prstDash val="solid"/>
          </a:ln>
        </p:spPr>
      </p:sp>
      <p:sp>
        <p:nvSpPr>
          <p:cNvPr id="17" name="Text 15"/>
          <p:cNvSpPr/>
          <p:nvPr/>
        </p:nvSpPr>
        <p:spPr>
          <a:xfrm>
            <a:off x="4352544" y="3108960"/>
            <a:ext cx="267004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RESOLVE</a:t>
            </a:r>
            <a:endParaRPr lang="en-US" sz="1800" dirty="0"/>
          </a:p>
        </p:txBody>
      </p:sp>
      <p:sp>
        <p:nvSpPr>
          <p:cNvPr id="18" name="Text 16"/>
          <p:cNvSpPr/>
          <p:nvPr/>
        </p:nvSpPr>
        <p:spPr>
          <a:xfrm>
            <a:off x="4352544" y="3573018"/>
            <a:ext cx="2670048" cy="1510284"/>
          </a:xfrm>
          <a:prstGeom prst="rect">
            <a:avLst/>
          </a:prstGeom>
          <a:noFill/>
          <a:ln/>
        </p:spPr>
        <p:txBody>
          <a:bodyPr wrap="none" lIns="0" tIns="0" rIns="0" bIns="0" rtlCol="0" anchor="t"/>
          <a:lstStyle/>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Team2 membership</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 A2 → G2,</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supported by</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Team1 / G1</a:t>
            </a:r>
            <a:endParaRPr lang="en-US" sz="2300" dirty="0"/>
          </a:p>
        </p:txBody>
      </p:sp>
      <p:sp>
        <p:nvSpPr>
          <p:cNvPr id="19" name="Shape 17"/>
          <p:cNvSpPr/>
          <p:nvPr/>
        </p:nvSpPr>
        <p:spPr>
          <a:xfrm>
            <a:off x="7306056" y="4389120"/>
            <a:ext cx="210312" cy="0"/>
          </a:xfrm>
          <a:prstGeom prst="line">
            <a:avLst/>
          </a:prstGeom>
          <a:noFill/>
          <a:ln w="25400">
            <a:solidFill>
              <a:srgbClr val="087E8B"/>
            </a:solidFill>
            <a:prstDash val="solid"/>
            <a:headEnd type="none"/>
            <a:tailEnd type="triangle"/>
          </a:ln>
        </p:spPr>
      </p:sp>
      <p:sp>
        <p:nvSpPr>
          <p:cNvPr id="20" name="Shape 18"/>
          <p:cNvSpPr/>
          <p:nvPr/>
        </p:nvSpPr>
        <p:spPr>
          <a:xfrm>
            <a:off x="7589520" y="2880360"/>
            <a:ext cx="3127248" cy="3035808"/>
          </a:xfrm>
          <a:prstGeom prst="roundRect">
            <a:avLst>
              <a:gd name="adj" fmla="val 3614"/>
            </a:avLst>
          </a:prstGeom>
          <a:solidFill>
            <a:srgbClr val="FFFFFF"/>
          </a:solidFill>
          <a:ln w="8890">
            <a:solidFill>
              <a:srgbClr val="CCD7E2"/>
            </a:solidFill>
            <a:prstDash val="solid"/>
          </a:ln>
        </p:spPr>
      </p:sp>
      <p:sp>
        <p:nvSpPr>
          <p:cNvPr id="21" name="Shape 19"/>
          <p:cNvSpPr/>
          <p:nvPr/>
        </p:nvSpPr>
        <p:spPr>
          <a:xfrm>
            <a:off x="7589520" y="2880360"/>
            <a:ext cx="50292" cy="3035808"/>
          </a:xfrm>
          <a:prstGeom prst="rect">
            <a:avLst/>
          </a:prstGeom>
          <a:solidFill>
            <a:srgbClr val="087E8B"/>
          </a:solidFill>
          <a:ln w="8890">
            <a:solidFill>
              <a:srgbClr val="087E8B"/>
            </a:solidFill>
            <a:prstDash val="solid"/>
          </a:ln>
        </p:spPr>
      </p:sp>
      <p:sp>
        <p:nvSpPr>
          <p:cNvPr id="22" name="Text 20"/>
          <p:cNvSpPr/>
          <p:nvPr/>
        </p:nvSpPr>
        <p:spPr>
          <a:xfrm>
            <a:off x="7818120" y="3108960"/>
            <a:ext cx="267004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EVALUATE</a:t>
            </a:r>
            <a:endParaRPr lang="en-US" sz="1800" dirty="0"/>
          </a:p>
        </p:txBody>
      </p:sp>
      <p:sp>
        <p:nvSpPr>
          <p:cNvPr id="23" name="Text 21"/>
          <p:cNvSpPr/>
          <p:nvPr/>
        </p:nvSpPr>
        <p:spPr>
          <a:xfrm>
            <a:off x="7818120" y="3573018"/>
            <a:ext cx="2670048" cy="1151001"/>
          </a:xfrm>
          <a:prstGeom prst="rect">
            <a:avLst/>
          </a:prstGeom>
          <a:noFill/>
          <a:ln/>
        </p:spPr>
        <p:txBody>
          <a:bodyPr wrap="none" lIns="0" tIns="0" rIns="0" bIns="0" rtlCol="0" anchor="t"/>
          <a:lstStyle/>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Certificate read</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inside Finance</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AND C17</a:t>
            </a:r>
            <a:endParaRPr lang="en-US" sz="2300" dirty="0"/>
          </a:p>
        </p:txBody>
      </p:sp>
      <p:sp>
        <p:nvSpPr>
          <p:cNvPr id="24" name="Shape 22"/>
          <p:cNvSpPr/>
          <p:nvPr/>
        </p:nvSpPr>
        <p:spPr>
          <a:xfrm>
            <a:off x="10771632" y="4389120"/>
            <a:ext cx="210312" cy="0"/>
          </a:xfrm>
          <a:prstGeom prst="line">
            <a:avLst/>
          </a:prstGeom>
          <a:noFill/>
          <a:ln w="25400">
            <a:solidFill>
              <a:srgbClr val="087E8B"/>
            </a:solidFill>
            <a:prstDash val="solid"/>
            <a:headEnd type="none"/>
            <a:tailEnd type="triangle"/>
          </a:ln>
        </p:spPr>
      </p:sp>
      <p:sp>
        <p:nvSpPr>
          <p:cNvPr id="25" name="Shape 23"/>
          <p:cNvSpPr/>
          <p:nvPr/>
        </p:nvSpPr>
        <p:spPr>
          <a:xfrm>
            <a:off x="11055096" y="2880360"/>
            <a:ext cx="3127248" cy="3035808"/>
          </a:xfrm>
          <a:prstGeom prst="roundRect">
            <a:avLst>
              <a:gd name="adj" fmla="val 3614"/>
            </a:avLst>
          </a:prstGeom>
          <a:solidFill>
            <a:srgbClr val="FFFFFF"/>
          </a:solidFill>
          <a:ln w="8890">
            <a:solidFill>
              <a:srgbClr val="CCD7E2"/>
            </a:solidFill>
            <a:prstDash val="solid"/>
          </a:ln>
        </p:spPr>
      </p:sp>
      <p:sp>
        <p:nvSpPr>
          <p:cNvPr id="26" name="Shape 24"/>
          <p:cNvSpPr/>
          <p:nvPr/>
        </p:nvSpPr>
        <p:spPr>
          <a:xfrm>
            <a:off x="11055096" y="2880360"/>
            <a:ext cx="50292" cy="3035808"/>
          </a:xfrm>
          <a:prstGeom prst="rect">
            <a:avLst/>
          </a:prstGeom>
          <a:solidFill>
            <a:srgbClr val="087E8B"/>
          </a:solidFill>
          <a:ln w="8890">
            <a:solidFill>
              <a:srgbClr val="087E8B"/>
            </a:solidFill>
            <a:prstDash val="solid"/>
          </a:ln>
        </p:spPr>
      </p:sp>
      <p:sp>
        <p:nvSpPr>
          <p:cNvPr id="27" name="Text 25"/>
          <p:cNvSpPr/>
          <p:nvPr/>
        </p:nvSpPr>
        <p:spPr>
          <a:xfrm>
            <a:off x="11283696" y="3108960"/>
            <a:ext cx="2670048"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ENFORCE</a:t>
            </a:r>
            <a:endParaRPr lang="en-US" sz="1800" dirty="0"/>
          </a:p>
        </p:txBody>
      </p:sp>
      <p:sp>
        <p:nvSpPr>
          <p:cNvPr id="28" name="Text 26"/>
          <p:cNvSpPr/>
          <p:nvPr/>
        </p:nvSpPr>
        <p:spPr>
          <a:xfrm>
            <a:off x="11283696" y="3573018"/>
            <a:ext cx="2670048" cy="1510284"/>
          </a:xfrm>
          <a:prstGeom prst="rect">
            <a:avLst/>
          </a:prstGeom>
          <a:noFill/>
          <a:ln/>
        </p:spPr>
        <p:txBody>
          <a:bodyPr wrap="none" lIns="0" tIns="0" rIns="0" bIns="0" rtlCol="0" anchor="t"/>
          <a:lstStyle/>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Return only data</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matching the</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trusted tenant +</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FIN + C17</a:t>
            </a:r>
            <a:endParaRPr lang="en-US" sz="2300" dirty="0"/>
          </a:p>
        </p:txBody>
      </p:sp>
      <p:sp>
        <p:nvSpPr>
          <p:cNvPr id="29" name="Text 27"/>
          <p:cNvSpPr/>
          <p:nvPr/>
        </p:nvSpPr>
        <p:spPr>
          <a:xfrm>
            <a:off x="914400" y="6537960"/>
            <a:ext cx="12801600" cy="432435"/>
          </a:xfrm>
          <a:prstGeom prst="rect">
            <a:avLst/>
          </a:prstGeom>
          <a:noFill/>
          <a:ln/>
        </p:spPr>
        <p:txBody>
          <a:bodyPr wrap="none" lIns="0" tIns="0" rIns="0" bIns="0" rtlCol="0" anchor="t"/>
          <a:lstStyle/>
          <a:p>
            <a:pPr algn="ctr" indent="0" marL="0">
              <a:lnSpc>
                <a:spcPct val="123000"/>
              </a:lnSpc>
              <a:buNone/>
            </a:pPr>
            <a:r>
              <a:rPr lang="en-US" sz="2300" dirty="0">
                <a:solidFill>
                  <a:srgbClr val="52657A"/>
                </a:solidFill>
                <a:latin typeface="Arial" pitchFamily="34" charset="0"/>
                <a:ea typeface="Arial" pitchFamily="34" charset="-122"/>
                <a:cs typeface="Arial" pitchFamily="34" charset="-120"/>
              </a:rPr>
              <a:t>Relationships and boundaries must remain connected throughout.</a:t>
            </a:r>
            <a:endParaRPr lang="en-US" sz="2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8229600"/>
          </a:xfrm>
          <a:prstGeom prst="rect">
            <a:avLst/>
          </a:prstGeom>
          <a:solidFill>
            <a:srgbClr val="087E8B"/>
          </a:solidFill>
          <a:ln w="8890">
            <a:solidFill>
              <a:srgbClr val="087E8B"/>
            </a:solidFill>
            <a:prstDash val="solid"/>
          </a:ln>
        </p:spPr>
      </p:sp>
      <p:sp>
        <p:nvSpPr>
          <p:cNvPr id="3" name="Text 1"/>
          <p:cNvSpPr/>
          <p:nvPr/>
        </p:nvSpPr>
        <p:spPr>
          <a:xfrm>
            <a:off x="640080" y="384048"/>
            <a:ext cx="12344400" cy="276225"/>
          </a:xfrm>
          <a:prstGeom prst="rect">
            <a:avLst/>
          </a:prstGeom>
          <a:noFill/>
          <a:ln/>
        </p:spPr>
        <p:txBody>
          <a:bodyPr wrap="none" lIns="0" tIns="0" rIns="0" bIns="0" rtlCol="0" anchor="t"/>
          <a:lstStyle/>
          <a:p>
            <a:pPr algn="l" indent="0" marL="0">
              <a:lnSpc>
                <a:spcPct val="123000"/>
              </a:lnSpc>
              <a:buNone/>
            </a:pPr>
            <a:r>
              <a:rPr lang="en-US" sz="1300" b="1" dirty="0">
                <a:solidFill>
                  <a:srgbClr val="087E8B"/>
                </a:solidFill>
                <a:latin typeface="Arial" pitchFamily="34" charset="0"/>
                <a:ea typeface="Arial" pitchFamily="34" charset="-122"/>
                <a:cs typeface="Arial" pitchFamily="34" charset="-120"/>
              </a:rPr>
              <a:t>KEEP THE DISTINCTIONS</a:t>
            </a:r>
            <a:endParaRPr lang="en-US" sz="1300" dirty="0"/>
          </a:p>
        </p:txBody>
      </p:sp>
      <p:sp>
        <p:nvSpPr>
          <p:cNvPr id="4" name="Text 2"/>
          <p:cNvSpPr/>
          <p:nvPr/>
        </p:nvSpPr>
        <p:spPr>
          <a:xfrm>
            <a:off x="612648" y="841248"/>
            <a:ext cx="13350240" cy="604266"/>
          </a:xfrm>
          <a:prstGeom prst="rect">
            <a:avLst/>
          </a:prstGeom>
          <a:noFill/>
          <a:ln/>
        </p:spPr>
        <p:txBody>
          <a:bodyPr wrap="none" lIns="0" tIns="0" rIns="0" bIns="0" rtlCol="0" anchor="t"/>
          <a:lstStyle/>
          <a:p>
            <a:pPr algn="l" indent="0" marL="0">
              <a:lnSpc>
                <a:spcPct val="123000"/>
              </a:lnSpc>
              <a:buNone/>
            </a:pPr>
            <a:r>
              <a:rPr lang="en-US" sz="3400" b="1" dirty="0">
                <a:solidFill>
                  <a:srgbClr val="14263D"/>
                </a:solidFill>
                <a:latin typeface="Arial" pitchFamily="34" charset="0"/>
                <a:ea typeface="Arial" pitchFamily="34" charset="-122"/>
                <a:cs typeface="Arial" pitchFamily="34" charset="-120"/>
              </a:rPr>
              <a:t>The vocabulary in one sentence</a:t>
            </a:r>
            <a:endParaRPr lang="en-US" sz="3400" dirty="0"/>
          </a:p>
        </p:txBody>
      </p:sp>
      <p:sp>
        <p:nvSpPr>
          <p:cNvPr id="5" name="Text 3"/>
          <p:cNvSpPr/>
          <p:nvPr/>
        </p:nvSpPr>
        <p:spPr>
          <a:xfrm>
            <a:off x="640080" y="1591056"/>
            <a:ext cx="13258800" cy="401193"/>
          </a:xfrm>
          <a:prstGeom prst="rect">
            <a:avLst/>
          </a:prstGeom>
          <a:noFill/>
          <a:ln/>
        </p:spPr>
        <p:txBody>
          <a:bodyPr wrap="none" lIns="0" tIns="0" rIns="0" bIns="0" rtlCol="0" anchor="t"/>
          <a:lstStyle/>
          <a:p>
            <a:pPr algn="l" indent="0" marL="0">
              <a:lnSpc>
                <a:spcPct val="123000"/>
              </a:lnSpc>
              <a:buNone/>
            </a:pPr>
            <a:r>
              <a:rPr lang="en-US" sz="2100" dirty="0">
                <a:solidFill>
                  <a:srgbClr val="52657A"/>
                </a:solidFill>
                <a:latin typeface="Arial" pitchFamily="34" charset="0"/>
                <a:ea typeface="Arial" pitchFamily="34" charset="-122"/>
                <a:cs typeface="Arial" pitchFamily="34" charset="-120"/>
              </a:rPr>
              <a:t>An identified actor requests an operation; valid assigned authority must cover its boundary.</a:t>
            </a:r>
            <a:endParaRPr lang="en-US" sz="2100" dirty="0"/>
          </a:p>
        </p:txBody>
      </p:sp>
      <p:sp>
        <p:nvSpPr>
          <p:cNvPr id="6" name="Shape 4"/>
          <p:cNvSpPr/>
          <p:nvPr/>
        </p:nvSpPr>
        <p:spPr>
          <a:xfrm>
            <a:off x="594360" y="7470648"/>
            <a:ext cx="13441680" cy="466344"/>
          </a:xfrm>
          <a:prstGeom prst="roundRect">
            <a:avLst>
              <a:gd name="adj" fmla="val 11765"/>
            </a:avLst>
          </a:prstGeom>
          <a:solidFill>
            <a:srgbClr val="E3F3F2"/>
          </a:solidFill>
          <a:ln w="8890">
            <a:solidFill>
              <a:srgbClr val="E3F3F2"/>
            </a:solidFill>
            <a:prstDash val="solid"/>
          </a:ln>
        </p:spPr>
      </p:sp>
      <p:sp>
        <p:nvSpPr>
          <p:cNvPr id="7" name="Text 5"/>
          <p:cNvSpPr/>
          <p:nvPr/>
        </p:nvSpPr>
        <p:spPr>
          <a:xfrm>
            <a:off x="777240" y="7571232"/>
            <a:ext cx="12984480" cy="323088"/>
          </a:xfrm>
          <a:prstGeom prst="rect">
            <a:avLst/>
          </a:prstGeom>
          <a:noFill/>
          <a:ln/>
        </p:spPr>
        <p:txBody>
          <a:bodyPr wrap="none" lIns="0" tIns="0" rIns="0" bIns="0" rtlCol="0" anchor="t"/>
          <a:lstStyle/>
          <a:p>
            <a:pPr algn="l" indent="0" marL="0">
              <a:lnSpc>
                <a:spcPct val="123000"/>
              </a:lnSpc>
              <a:buNone/>
            </a:pPr>
            <a:r>
              <a:rPr lang="en-US" sz="1600" b="1" dirty="0">
                <a:solidFill>
                  <a:srgbClr val="087E8B"/>
                </a:solidFill>
                <a:latin typeface="Arial" pitchFamily="34" charset="0"/>
                <a:ea typeface="Arial" pitchFamily="34" charset="-122"/>
                <a:cs typeface="Arial" pitchFamily="34" charset="-120"/>
              </a:rPr>
              <a:t>Definitions first. Approved JSON beside them. Pending formats remain pending.</a:t>
            </a:r>
            <a:endParaRPr lang="en-US" sz="1600" dirty="0"/>
          </a:p>
        </p:txBody>
      </p:sp>
      <p:sp>
        <p:nvSpPr>
          <p:cNvPr id="8" name="Text 6"/>
          <p:cNvSpPr/>
          <p:nvPr/>
        </p:nvSpPr>
        <p:spPr>
          <a:xfrm>
            <a:off x="640080" y="8019288"/>
            <a:ext cx="12618720" cy="213741"/>
          </a:xfrm>
          <a:prstGeom prst="rect">
            <a:avLst/>
          </a:prstGeom>
          <a:noFill/>
          <a:ln/>
        </p:spPr>
        <p:txBody>
          <a:bodyPr wrap="none" lIns="0" tIns="0" rIns="0" bIns="0" rtlCol="0" anchor="t"/>
          <a:lstStyle/>
          <a:p>
            <a:pPr algn="l" indent="0" marL="0">
              <a:lnSpc>
                <a:spcPct val="123000"/>
              </a:lnSpc>
              <a:buNone/>
            </a:pPr>
            <a:r>
              <a:rPr lang="en-US" sz="900" dirty="0">
                <a:solidFill>
                  <a:srgbClr val="52657A"/>
                </a:solidFill>
                <a:latin typeface="Arial" pitchFamily="34" charset="0"/>
                <a:ea typeface="Arial" pitchFamily="34" charset="-122"/>
                <a:cs typeface="Arial" pitchFamily="34" charset="-120"/>
              </a:rPr>
              <a:t>HANDBOOK OF AUTHORIZATION · OUR MODEL · CORE SHAPES, NOT COMPLETE SCHEMAS</a:t>
            </a:r>
            <a:endParaRPr lang="en-US" sz="900" dirty="0"/>
          </a:p>
        </p:txBody>
      </p:sp>
      <p:sp>
        <p:nvSpPr>
          <p:cNvPr id="9" name="Text 7"/>
          <p:cNvSpPr/>
          <p:nvPr/>
        </p:nvSpPr>
        <p:spPr>
          <a:xfrm>
            <a:off x="13459968" y="7909560"/>
            <a:ext cx="548640" cy="291846"/>
          </a:xfrm>
          <a:prstGeom prst="rect">
            <a:avLst/>
          </a:prstGeom>
          <a:noFill/>
          <a:ln/>
        </p:spPr>
        <p:txBody>
          <a:bodyPr wrap="none" lIns="0" tIns="0" rIns="0" bIns="0" rtlCol="0" anchor="t"/>
          <a:lstStyle/>
          <a:p>
            <a:pPr algn="ctr" indent="0" marL="0">
              <a:lnSpc>
                <a:spcPct val="123000"/>
              </a:lnSpc>
              <a:buNone/>
            </a:pPr>
            <a:r>
              <a:rPr lang="en-US" sz="1400" dirty="0">
                <a:solidFill>
                  <a:srgbClr val="52657A"/>
                </a:solidFill>
                <a:latin typeface="Arial" pitchFamily="34" charset="0"/>
                <a:ea typeface="Arial" pitchFamily="34" charset="-122"/>
                <a:cs typeface="Arial" pitchFamily="34" charset="-120"/>
              </a:rPr>
              <a:t>30</a:t>
            </a:r>
            <a:endParaRPr lang="en-US" sz="1400" dirty="0"/>
          </a:p>
        </p:txBody>
      </p:sp>
      <p:sp>
        <p:nvSpPr>
          <p:cNvPr id="10" name="Shape 8"/>
          <p:cNvSpPr/>
          <p:nvPr/>
        </p:nvSpPr>
        <p:spPr>
          <a:xfrm>
            <a:off x="731520" y="2468880"/>
            <a:ext cx="6400800" cy="4096512"/>
          </a:xfrm>
          <a:prstGeom prst="roundRect">
            <a:avLst>
              <a:gd name="adj" fmla="val 2679"/>
            </a:avLst>
          </a:prstGeom>
          <a:solidFill>
            <a:srgbClr val="FFFFFF"/>
          </a:solidFill>
          <a:ln w="8890">
            <a:solidFill>
              <a:srgbClr val="CCD7E2"/>
            </a:solidFill>
            <a:prstDash val="solid"/>
          </a:ln>
        </p:spPr>
      </p:sp>
      <p:sp>
        <p:nvSpPr>
          <p:cNvPr id="11" name="Shape 9"/>
          <p:cNvSpPr/>
          <p:nvPr/>
        </p:nvSpPr>
        <p:spPr>
          <a:xfrm>
            <a:off x="731520" y="2468880"/>
            <a:ext cx="50292" cy="4096512"/>
          </a:xfrm>
          <a:prstGeom prst="rect">
            <a:avLst/>
          </a:prstGeom>
          <a:solidFill>
            <a:srgbClr val="087E8B"/>
          </a:solidFill>
          <a:ln w="8890">
            <a:solidFill>
              <a:srgbClr val="087E8B"/>
            </a:solidFill>
            <a:prstDash val="solid"/>
          </a:ln>
        </p:spPr>
      </p:sp>
      <p:sp>
        <p:nvSpPr>
          <p:cNvPr id="12" name="Text 10"/>
          <p:cNvSpPr/>
          <p:nvPr/>
        </p:nvSpPr>
        <p:spPr>
          <a:xfrm>
            <a:off x="960120" y="2697480"/>
            <a:ext cx="5943600" cy="354330"/>
          </a:xfrm>
          <a:prstGeom prst="rect">
            <a:avLst/>
          </a:prstGeom>
          <a:noFill/>
          <a:ln/>
        </p:spPr>
        <p:txBody>
          <a:bodyPr wrap="none" lIns="0" tIns="0" rIns="0" bIns="0" rtlCol="0" anchor="t"/>
          <a:lstStyle/>
          <a:p>
            <a:pPr algn="l" indent="0" marL="0">
              <a:lnSpc>
                <a:spcPct val="123000"/>
              </a:lnSpc>
              <a:buNone/>
            </a:pPr>
            <a:r>
              <a:rPr lang="en-US" sz="1800" b="1" dirty="0">
                <a:solidFill>
                  <a:srgbClr val="087E8B"/>
                </a:solidFill>
                <a:latin typeface="Arial" pitchFamily="34" charset="0"/>
                <a:ea typeface="Arial" pitchFamily="34" charset="-122"/>
                <a:cs typeface="Arial" pitchFamily="34" charset="-120"/>
              </a:rPr>
              <a:t>KEEP SEPARATE</a:t>
            </a:r>
            <a:endParaRPr lang="en-US" sz="1800" dirty="0"/>
          </a:p>
        </p:txBody>
      </p:sp>
      <p:sp>
        <p:nvSpPr>
          <p:cNvPr id="13" name="Text 11"/>
          <p:cNvSpPr/>
          <p:nvPr/>
        </p:nvSpPr>
        <p:spPr>
          <a:xfrm>
            <a:off x="960120" y="3161538"/>
            <a:ext cx="5943600" cy="1760220"/>
          </a:xfrm>
          <a:prstGeom prst="rect">
            <a:avLst/>
          </a:prstGeom>
          <a:noFill/>
          <a:ln/>
        </p:spPr>
        <p:txBody>
          <a:bodyPr wrap="none" lIns="0" tIns="0" rIns="0" bIns="0" rtlCol="0" anchor="t"/>
          <a:lstStyle/>
          <a:p>
            <a:pPr algn="l" indent="0" marL="0">
              <a:lnSpc>
                <a:spcPct val="123000"/>
              </a:lnSpc>
              <a:buNone/>
            </a:pPr>
            <a:r>
              <a:rPr lang="en-US" sz="2700" dirty="0">
                <a:solidFill>
                  <a:srgbClr val="14263D"/>
                </a:solidFill>
                <a:latin typeface="Arial" pitchFamily="34" charset="0"/>
                <a:ea typeface="Arial" pitchFamily="34" charset="-122"/>
                <a:cs typeface="Arial" pitchFamily="34" charset="-120"/>
              </a:rPr>
              <a:t>Role ≠ grant ≠ assignment</a:t>
            </a:r>
            <a:endParaRPr lang="en-US" sz="2700" dirty="0"/>
          </a:p>
          <a:p>
            <a:pPr algn="l" indent="0" marL="0">
              <a:lnSpc>
                <a:spcPct val="123000"/>
              </a:lnSpc>
              <a:buNone/>
            </a:pPr>
            <a:r>
              <a:rPr lang="en-US" sz="2700" dirty="0">
                <a:solidFill>
                  <a:srgbClr val="14263D"/>
                </a:solidFill>
                <a:latin typeface="Arial" pitchFamily="34" charset="0"/>
                <a:ea typeface="Arial" pitchFamily="34" charset="-122"/>
                <a:cs typeface="Arial" pitchFamily="34" charset="-120"/>
              </a:rPr>
              <a:t>Membership ≠ ownership</a:t>
            </a:r>
            <a:endParaRPr lang="en-US" sz="2700" dirty="0"/>
          </a:p>
          <a:p>
            <a:pPr algn="l" indent="0" marL="0">
              <a:lnSpc>
                <a:spcPct val="123000"/>
              </a:lnSpc>
              <a:buNone/>
            </a:pPr>
            <a:r>
              <a:rPr lang="en-US" sz="2700" dirty="0">
                <a:solidFill>
                  <a:srgbClr val="14263D"/>
                </a:solidFill>
                <a:latin typeface="Arial" pitchFamily="34" charset="0"/>
                <a:ea typeface="Arial" pitchFamily="34" charset="-122"/>
                <a:cs typeface="Arial" pitchFamily="34" charset="-120"/>
              </a:rPr>
              <a:t>Enabled ≠ effective</a:t>
            </a:r>
            <a:endParaRPr lang="en-US" sz="2700" dirty="0"/>
          </a:p>
          <a:p>
            <a:pPr algn="l" indent="0" marL="0">
              <a:lnSpc>
                <a:spcPct val="123000"/>
              </a:lnSpc>
              <a:buNone/>
            </a:pPr>
            <a:r>
              <a:rPr lang="en-US" sz="2700" dirty="0">
                <a:solidFill>
                  <a:srgbClr val="14263D"/>
                </a:solidFill>
                <a:latin typeface="Arial" pitchFamily="34" charset="0"/>
                <a:ea typeface="Arial" pitchFamily="34" charset="-122"/>
                <a:cs typeface="Arial" pitchFamily="34" charset="-120"/>
              </a:rPr>
              <a:t>Resolved ≠ allowed</a:t>
            </a:r>
            <a:endParaRPr lang="en-US" sz="2700" dirty="0"/>
          </a:p>
        </p:txBody>
      </p:sp>
      <p:sp>
        <p:nvSpPr>
          <p:cNvPr id="14" name="Shape 12"/>
          <p:cNvSpPr/>
          <p:nvPr/>
        </p:nvSpPr>
        <p:spPr>
          <a:xfrm>
            <a:off x="7452360" y="2468880"/>
            <a:ext cx="6400800" cy="4096512"/>
          </a:xfrm>
          <a:prstGeom prst="roundRect">
            <a:avLst>
              <a:gd name="adj" fmla="val 2679"/>
            </a:avLst>
          </a:prstGeom>
          <a:solidFill>
            <a:srgbClr val="FFF2D9"/>
          </a:solidFill>
          <a:ln w="8890">
            <a:solidFill>
              <a:srgbClr val="CCD7E2"/>
            </a:solidFill>
            <a:prstDash val="solid"/>
          </a:ln>
        </p:spPr>
      </p:sp>
      <p:sp>
        <p:nvSpPr>
          <p:cNvPr id="15" name="Shape 13"/>
          <p:cNvSpPr/>
          <p:nvPr/>
        </p:nvSpPr>
        <p:spPr>
          <a:xfrm>
            <a:off x="7452360" y="2468880"/>
            <a:ext cx="50292" cy="4096512"/>
          </a:xfrm>
          <a:prstGeom prst="rect">
            <a:avLst/>
          </a:prstGeom>
          <a:solidFill>
            <a:srgbClr val="9A5A06"/>
          </a:solidFill>
          <a:ln w="8890">
            <a:solidFill>
              <a:srgbClr val="9A5A06"/>
            </a:solidFill>
            <a:prstDash val="solid"/>
          </a:ln>
        </p:spPr>
      </p:sp>
      <p:sp>
        <p:nvSpPr>
          <p:cNvPr id="16" name="Text 14"/>
          <p:cNvSpPr/>
          <p:nvPr/>
        </p:nvSpPr>
        <p:spPr>
          <a:xfrm>
            <a:off x="7680960" y="2697480"/>
            <a:ext cx="5943600" cy="354330"/>
          </a:xfrm>
          <a:prstGeom prst="rect">
            <a:avLst/>
          </a:prstGeom>
          <a:noFill/>
          <a:ln/>
        </p:spPr>
        <p:txBody>
          <a:bodyPr wrap="none" lIns="0" tIns="0" rIns="0" bIns="0" rtlCol="0" anchor="t"/>
          <a:lstStyle/>
          <a:p>
            <a:pPr algn="l" indent="0" marL="0">
              <a:lnSpc>
                <a:spcPct val="123000"/>
              </a:lnSpc>
              <a:buNone/>
            </a:pPr>
            <a:r>
              <a:rPr lang="en-US" sz="1800" b="1" dirty="0">
                <a:solidFill>
                  <a:srgbClr val="9A5A06"/>
                </a:solidFill>
                <a:latin typeface="Arial" pitchFamily="34" charset="0"/>
                <a:ea typeface="Arial" pitchFamily="34" charset="-122"/>
                <a:cs typeface="Arial" pitchFamily="34" charset="-120"/>
              </a:rPr>
              <a:t>FORMATS STILL PENDING</a:t>
            </a:r>
            <a:endParaRPr lang="en-US" sz="1800" dirty="0"/>
          </a:p>
        </p:txBody>
      </p:sp>
      <p:sp>
        <p:nvSpPr>
          <p:cNvPr id="17" name="Text 15"/>
          <p:cNvSpPr/>
          <p:nvPr/>
        </p:nvSpPr>
        <p:spPr>
          <a:xfrm>
            <a:off x="7680960" y="3161538"/>
            <a:ext cx="5943600" cy="1510284"/>
          </a:xfrm>
          <a:prstGeom prst="rect">
            <a:avLst/>
          </a:prstGeom>
          <a:noFill/>
          <a:ln/>
        </p:spPr>
        <p:txBody>
          <a:bodyPr wrap="none" lIns="0" tIns="0" rIns="0" bIns="0" rtlCol="0" anchor="t"/>
          <a:lstStyle/>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Team / membership / ownership</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Standalone role and registration</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Root and delegation evidence</a:t>
            </a:r>
            <a:endParaRPr lang="en-US" sz="2300" dirty="0"/>
          </a:p>
          <a:p>
            <a:pPr algn="l" indent="0" marL="0">
              <a:lnSpc>
                <a:spcPct val="123000"/>
              </a:lnSpc>
              <a:buNone/>
            </a:pPr>
            <a:r>
              <a:rPr lang="en-US" sz="2300" dirty="0">
                <a:solidFill>
                  <a:srgbClr val="14263D"/>
                </a:solidFill>
                <a:latin typeface="Arial" pitchFamily="34" charset="0"/>
                <a:ea typeface="Arial" pitchFamily="34" charset="-122"/>
                <a:cs typeface="Arial" pitchFamily="34" charset="-120"/>
              </a:rPr>
              <a:t>Request / resolved-view envelopes</a:t>
            </a:r>
            <a:endParaRPr lang="en-US" sz="2300" dirty="0"/>
          </a:p>
        </p:txBody>
      </p:sp>
      <p:sp>
        <p:nvSpPr>
          <p:cNvPr id="18" name="Text 16"/>
          <p:cNvSpPr/>
          <p:nvPr/>
        </p:nvSpPr>
        <p:spPr>
          <a:xfrm>
            <a:off x="914400" y="6858000"/>
            <a:ext cx="12801600" cy="432435"/>
          </a:xfrm>
          <a:prstGeom prst="rect">
            <a:avLst/>
          </a:prstGeom>
          <a:noFill/>
          <a:ln/>
        </p:spPr>
        <p:txBody>
          <a:bodyPr wrap="none" lIns="0" tIns="0" rIns="0" bIns="0" rtlCol="0" anchor="t"/>
          <a:lstStyle/>
          <a:p>
            <a:pPr algn="ctr" indent="0" marL="0">
              <a:lnSpc>
                <a:spcPct val="123000"/>
              </a:lnSpc>
              <a:buNone/>
            </a:pPr>
            <a:r>
              <a:rPr lang="en-US" sz="2300" dirty="0">
                <a:solidFill>
                  <a:srgbClr val="52657A"/>
                </a:solidFill>
                <a:latin typeface="Arial" pitchFamily="34" charset="0"/>
                <a:ea typeface="Arial" pitchFamily="34" charset="-122"/>
                <a:cs typeface="Arial" pitchFamily="34" charset="-120"/>
              </a:rPr>
              <a:t>Core record shapes are explained—not promoted into complete schemas.</a:t>
            </a:r>
            <a:endParaRPr lang="en-US" sz="2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Agentlabs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Handbook of Authorization — Core Concepts &amp; JSON</dc:title>
  <dc:subject>Handbook of Authorization — core vocabulary and approved JSON</dc:subject>
  <dc:creator>Agentlabs</dc:creator>
  <cp:lastModifiedBy>Agentlabs</cp:lastModifiedBy>
  <cp:revision>1</cp:revision>
  <dcterms:created xsi:type="dcterms:W3CDTF">2026-09-08T08:19:28Z</dcterms:created>
  <dcterms:modified xsi:type="dcterms:W3CDTF">2026-09-08T08:19:28Z</dcterms:modified>
</cp:coreProperties>
</file>